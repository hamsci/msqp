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0"/>
  </p:notesMasterIdLst>
  <p:sldIdLst>
    <p:sldId id="256" r:id="rId3"/>
    <p:sldId id="258" r:id="rId4"/>
    <p:sldId id="539" r:id="rId5"/>
    <p:sldId id="543" r:id="rId6"/>
    <p:sldId id="542" r:id="rId7"/>
    <p:sldId id="541" r:id="rId8"/>
    <p:sldId id="538" r:id="rId9"/>
  </p:sldIdLst>
  <p:sldSz cx="12192000" cy="6858000"/>
  <p:notesSz cx="6985000" cy="9271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CC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 Suggs" userId="2bb4e71def27aae0" providerId="LiveId" clId="{FA8263B0-A54B-464D-8B57-E62DDB4ABA2A}"/>
    <pc:docChg chg="modSld">
      <pc:chgData name="Rob Suggs" userId="2bb4e71def27aae0" providerId="LiveId" clId="{FA8263B0-A54B-464D-8B57-E62DDB4ABA2A}" dt="2026-10-28T16:25:09.808" v="1" actId="20577"/>
      <pc:docMkLst>
        <pc:docMk/>
      </pc:docMkLst>
      <pc:sldChg chg="modSp mod">
        <pc:chgData name="Rob Suggs" userId="2bb4e71def27aae0" providerId="LiveId" clId="{FA8263B0-A54B-464D-8B57-E62DDB4ABA2A}" dt="2026-10-28T16:25:09.808" v="1" actId="20577"/>
        <pc:sldMkLst>
          <pc:docMk/>
          <pc:sldMk cId="0" sldId="256"/>
        </pc:sldMkLst>
        <pc:spChg chg="mod">
          <ac:chgData name="Rob Suggs" userId="2bb4e71def27aae0" providerId="LiveId" clId="{FA8263B0-A54B-464D-8B57-E62DDB4ABA2A}" dt="2026-10-28T16:25:09.808" v="1" actId="20577"/>
          <ac:spMkLst>
            <pc:docMk/>
            <pc:sldMk cId="0" sldId="256"/>
            <ac:spMk id="8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Click to move the slide</a:t>
            </a: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85" name="PlaceHolder 4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buNone/>
            </a:pPr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86" name="PlaceHolder 5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87" name="PlaceHolder 6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buNone/>
            </a:pPr>
            <a:fld id="{B0E9CDED-5838-4A8F-93C1-2F375E7460FC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600" y="273600"/>
            <a:ext cx="1097232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600" y="368208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2320" y="368208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600" y="3682080"/>
            <a:ext cx="109723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109723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600" y="3682080"/>
            <a:ext cx="109723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600" y="368208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2320" y="368208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520" y="160452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440" y="160452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600" y="368208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520" y="368208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440" y="368208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600" y="273600"/>
            <a:ext cx="1097232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600" y="368208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2320" y="368208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600" y="3682080"/>
            <a:ext cx="109723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109723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600" y="3682080"/>
            <a:ext cx="109723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600" y="368208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2320" y="368208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520" y="160452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440" y="160452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600" y="368208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520" y="368208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440" y="368208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4000" y="1122480"/>
            <a:ext cx="914352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4500" b="0" strike="noStrike" spc="-1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lang="en-US" sz="45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7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  <a:buNone/>
            </a:pPr>
            <a:fld id="{0E249459-242B-44A8-A357-F19B4F98C9DA}" type="datetime1">
              <a:rPr lang="en-US" sz="900" b="0" strike="noStrike" spc="-1">
                <a:solidFill>
                  <a:srgbClr val="8B8B8B"/>
                </a:solidFill>
                <a:latin typeface="Times New Roman"/>
              </a:rPr>
              <a:t>10/28/2026</a:t>
            </a:fld>
            <a:endParaRPr lang="en-US" sz="9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4038720" y="6356520"/>
            <a:ext cx="41145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rgbClr val="8B8B8B"/>
                </a:solidFill>
                <a:latin typeface="Times New Roman"/>
              </a:rPr>
              <a:t>Suggs NN4NT</a:t>
            </a:r>
            <a:endParaRPr lang="en-US" sz="9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8610720" y="6356520"/>
            <a:ext cx="27427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963A8826-90A2-4B3A-8565-253E3B87A891}" type="slidenum">
              <a:rPr lang="en-US" sz="900" b="0" strike="noStrike" spc="-1">
                <a:solidFill>
                  <a:srgbClr val="8B8B8B"/>
                </a:solidFill>
                <a:latin typeface="Times New Roman"/>
              </a:rPr>
              <a:t>‹#›</a:t>
            </a:fld>
            <a:endParaRPr lang="en-US" sz="9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35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2000" indent="-324000" algn="l" defTabSz="914400" rtl="0" eaLnBrk="1" latinLnBrk="0" hangingPunct="1">
        <a:lnSpc>
          <a:spcPct val="90000"/>
        </a:lnSpc>
        <a:spcBef>
          <a:spcPts val="1417"/>
        </a:spcBef>
        <a:buClr>
          <a:srgbClr val="000000"/>
        </a:buClr>
        <a:buSzPct val="45000"/>
        <a:buFont typeface="Wingdings" charset="2"/>
        <a:buChar char="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54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7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  <a:buNone/>
            </a:pPr>
            <a:fld id="{0B461371-89F2-42DA-96D1-AF6A5097D3A1}" type="datetime1">
              <a:rPr lang="en-US" sz="900" b="0" strike="noStrike" spc="-1">
                <a:solidFill>
                  <a:srgbClr val="FFFFFF"/>
                </a:solidFill>
                <a:latin typeface="Times New Roman"/>
              </a:rPr>
              <a:t>10/28/2026</a:t>
            </a:fld>
            <a:endParaRPr lang="en-US" sz="900" b="0" strike="noStrike" spc="-1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ftr"/>
          </p:nvPr>
        </p:nvSpPr>
        <p:spPr>
          <a:xfrm>
            <a:off x="4038720" y="6356520"/>
            <a:ext cx="41145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rgbClr val="FFFFFF"/>
                </a:solidFill>
                <a:latin typeface="Times New Roman"/>
              </a:rPr>
              <a:t>Suggs NN4NT</a:t>
            </a:r>
            <a:endParaRPr lang="en-US" sz="900" b="0" strike="noStrike" spc="-1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/>
          </p:nvPr>
        </p:nvSpPr>
        <p:spPr>
          <a:xfrm>
            <a:off x="8610720" y="6356520"/>
            <a:ext cx="27427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01571C37-CE1F-4E00-BCD7-676CDB0FFE6F}" type="slidenum">
              <a:rPr lang="en-US" sz="900" b="0" strike="noStrike" spc="-1">
                <a:solidFill>
                  <a:srgbClr val="FFFFFF"/>
                </a:solidFill>
                <a:latin typeface="Times New Roman"/>
              </a:rPr>
              <a:t>‹#›</a:t>
            </a:fld>
            <a:endParaRPr lang="en-US" sz="900" b="0" strike="noStrike" spc="-1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200" b="0" strike="noStrike" spc="-1">
                <a:solidFill>
                  <a:srgbClr val="FFFFFF"/>
                </a:solidFill>
                <a:latin typeface="Times New Roman"/>
              </a:rPr>
              <a:t>Click to edit the title text format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strike="noStrike" spc="-1">
                <a:solidFill>
                  <a:srgbClr val="FFFFFF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strike="noStrike" spc="-1">
                <a:solidFill>
                  <a:srgbClr val="FFFFFF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strike="noStrike" spc="-1">
                <a:solidFill>
                  <a:srgbClr val="FFFFFF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350" b="0" strike="noStrike" spc="-1">
                <a:solidFill>
                  <a:srgbClr val="FFFFFF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FFFFFF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FFFFFF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FFFFFF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2000" indent="-324000" algn="l" defTabSz="914400" rtl="0" eaLnBrk="1" latinLnBrk="0" hangingPunct="1">
        <a:lnSpc>
          <a:spcPct val="90000"/>
        </a:lnSpc>
        <a:spcBef>
          <a:spcPts val="1417"/>
        </a:spcBef>
        <a:buClr>
          <a:srgbClr val="000000"/>
        </a:buClr>
        <a:buSzPct val="45000"/>
        <a:buFont typeface="Wingdings" charset="2"/>
        <a:buChar char="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nn4nt@outlook.com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jay.Weitzen@scranton.edu" TargetMode="External"/><Relationship Id="rId5" Type="http://schemas.openxmlformats.org/officeDocument/2006/relationships/hyperlink" Target="mailto:jay_weitzen@uml.edu" TargetMode="External"/><Relationship Id="rId4" Type="http://schemas.openxmlformats.org/officeDocument/2006/relationships/hyperlink" Target="mailto:robert.suggs@scranton.edu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aquarid.physics.uwo.ca/research/radar/cmor_intro.html" TargetMode="External"/><Relationship Id="rId3" Type="http://schemas.openxmlformats.org/officeDocument/2006/relationships/hyperlink" Target="https://www.hamsci.org/sites/default/files/article/Workshop_2026/Meteor_Scatter_Science_Behind_the_Pings_HamSCI_conference_RevB.pdf" TargetMode="External"/><Relationship Id="rId7" Type="http://schemas.openxmlformats.org/officeDocument/2006/relationships/hyperlink" Target="https://github.com/HamSCI/MSQP/blob/main/MSK144_Protocol_QEX.pdf" TargetMode="External"/><Relationship Id="rId2" Type="http://schemas.openxmlformats.org/officeDocument/2006/relationships/hyperlink" Target="https://github.com/HamSCI/MSQP/blob/main/Weitzen_and_Ralston_Meteor_scatter_an_overview.pdf" TargetMode="External"/><Relationship Id="rId1" Type="http://schemas.openxmlformats.org/officeDocument/2006/relationships/slideLayout" Target="../slideLayouts/slideLayout14.xml"/><Relationship Id="rId6" Type="http://schemas.openxmlformats.org/officeDocument/2006/relationships/hyperlink" Target="https://github.com/HamSCI/MSQP/blob/main/McKinley%20Meteor%20Science%20chapter%209.pdf" TargetMode="External"/><Relationship Id="rId5" Type="http://schemas.openxmlformats.org/officeDocument/2006/relationships/hyperlink" Target="https://github.com/HamSCI/MSQP/blob/main/McKinley%20Meteor%20Science%20chapter%208.pdf" TargetMode="External"/><Relationship Id="rId4" Type="http://schemas.openxmlformats.org/officeDocument/2006/relationships/hyperlink" Target="https://github.com/HamSCI/MSQP/blob/main/McKinley%20Meteor%20Science%20chapter%207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Content Placeholder 5"/>
          <p:cNvPicPr/>
          <p:nvPr/>
        </p:nvPicPr>
        <p:blipFill>
          <a:blip r:embed="rId2"/>
          <a:stretch/>
        </p:blipFill>
        <p:spPr>
          <a:xfrm rot="10800000">
            <a:off x="0" y="0"/>
            <a:ext cx="12192000" cy="6890040"/>
          </a:xfrm>
          <a:prstGeom prst="rect">
            <a:avLst/>
          </a:prstGeom>
          <a:ln w="0">
            <a:noFill/>
          </a:ln>
        </p:spPr>
      </p:pic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09525" y="268066"/>
            <a:ext cx="7338721" cy="1790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4000" b="1" spc="-1" dirty="0" err="1">
                <a:solidFill>
                  <a:srgbClr val="FFFFFF"/>
                </a:solidFill>
                <a:latin typeface="Calibri Light"/>
              </a:rPr>
              <a:t>HamSCI</a:t>
            </a:r>
            <a:br>
              <a:rPr lang="en-US" sz="4000" b="1" spc="-1" dirty="0">
                <a:solidFill>
                  <a:srgbClr val="FFFFFF"/>
                </a:solidFill>
                <a:latin typeface="Calibri Light"/>
              </a:rPr>
            </a:br>
            <a:r>
              <a:rPr lang="en-US" sz="4000" b="1" spc="-1" dirty="0">
                <a:solidFill>
                  <a:srgbClr val="FFFFFF"/>
                </a:solidFill>
                <a:latin typeface="Calibri Light"/>
              </a:rPr>
              <a:t>Meteor Scatter Working Group</a:t>
            </a:r>
            <a:br>
              <a:rPr lang="en-US" sz="3200" b="1" spc="-1" dirty="0">
                <a:solidFill>
                  <a:srgbClr val="FFFFFF"/>
                </a:solidFill>
                <a:latin typeface="Calibri Light"/>
              </a:rPr>
            </a:br>
            <a:br>
              <a:rPr lang="en-US" sz="2400" b="1" spc="-1" dirty="0">
                <a:solidFill>
                  <a:srgbClr val="FFFFFF"/>
                </a:solidFill>
                <a:latin typeface="Calibri Light"/>
              </a:rPr>
            </a:br>
            <a:br>
              <a:rPr lang="en-US" sz="2400" b="1" spc="-1" dirty="0">
                <a:solidFill>
                  <a:srgbClr val="FFFFFF"/>
                </a:solidFill>
                <a:latin typeface="Calibri Light"/>
              </a:rPr>
            </a:br>
            <a:r>
              <a:rPr lang="en-US" sz="2400" b="1" spc="-1" dirty="0">
                <a:solidFill>
                  <a:srgbClr val="FFFFFF"/>
                </a:solidFill>
                <a:latin typeface="Calibri Light"/>
              </a:rPr>
              <a:t>Sept 16, 2026</a:t>
            </a:r>
            <a:endParaRPr lang="en-US" sz="3200" b="1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subTitle"/>
          </p:nvPr>
        </p:nvSpPr>
        <p:spPr>
          <a:xfrm>
            <a:off x="1267462" y="3857193"/>
            <a:ext cx="3602520" cy="2540717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lstStyle/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400" spc="-1">
                <a:solidFill>
                  <a:srgbClr val="FFFFFF"/>
                </a:solidFill>
                <a:latin typeface="Calibri"/>
              </a:rPr>
              <a:t>Rob Suggs Ph.D. , NN4NT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FFFFFF"/>
                </a:solidFill>
                <a:latin typeface="Calibri"/>
              </a:rPr>
              <a:t>NASA Marshall Space Flight Center Amateur Radio Club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FFFFFF"/>
                </a:solidFill>
                <a:latin typeface="Calibri"/>
              </a:rPr>
              <a:t>and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FFFFFF"/>
                </a:solidFill>
                <a:latin typeface="Calibri"/>
              </a:rPr>
              <a:t>The HamSCI Community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00B0F0"/>
                </a:solidFill>
                <a:latin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nn4nt@outlook.com</a:t>
            </a:r>
            <a:endParaRPr lang="en-US" sz="2000" spc="-1">
              <a:solidFill>
                <a:srgbClr val="00B0F0"/>
              </a:solidFill>
              <a:latin typeface="Calibri"/>
            </a:endParaRP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00B0F0"/>
                </a:solidFill>
                <a:latin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robert.suggs@scranton.edu</a:t>
            </a:r>
            <a:r>
              <a:rPr lang="en-US" sz="2000" spc="-1">
                <a:solidFill>
                  <a:srgbClr val="00B0F0"/>
                </a:solidFill>
                <a:latin typeface="Calibri"/>
              </a:rPr>
              <a:t>  </a:t>
            </a:r>
            <a:endParaRPr lang="en-US" sz="2000" spc="-1">
              <a:solidFill>
                <a:srgbClr val="00B0F0"/>
              </a:solidFill>
              <a:latin typeface="Arial"/>
            </a:endParaRPr>
          </a:p>
        </p:txBody>
      </p:sp>
      <p:sp>
        <p:nvSpPr>
          <p:cNvPr id="2" name="PlaceHolder 2">
            <a:extLst>
              <a:ext uri="{FF2B5EF4-FFF2-40B4-BE49-F238E27FC236}">
                <a16:creationId xmlns:a16="http://schemas.microsoft.com/office/drawing/2014/main" id="{7815C548-23BE-7EE3-5AA9-C49F42C72698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137444" y="3857192"/>
            <a:ext cx="3602520" cy="2540717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lstStyle/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400" spc="-1">
                <a:solidFill>
                  <a:srgbClr val="FFFFFF"/>
                </a:solidFill>
                <a:latin typeface="Calibri"/>
              </a:rPr>
              <a:t>Jay Weitzen Ph.D. , AC1SN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FFFFFF"/>
                </a:solidFill>
                <a:latin typeface="Calibri"/>
              </a:rPr>
              <a:t>University of Massachusetts - Lowell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FFFFFF"/>
                </a:solidFill>
                <a:latin typeface="Calibri"/>
              </a:rPr>
              <a:t>and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FFFFFF"/>
                </a:solidFill>
                <a:latin typeface="Calibri"/>
              </a:rPr>
              <a:t>The HamSCI Community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00B0F0"/>
                </a:solidFill>
                <a:latin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jay_weitzen@uml.edu</a:t>
            </a:r>
            <a:r>
              <a:rPr lang="en-US" sz="2000" spc="-1">
                <a:solidFill>
                  <a:srgbClr val="00B0F0"/>
                </a:solidFill>
                <a:latin typeface="Calibri"/>
              </a:rPr>
              <a:t> 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00B0F0"/>
                </a:solidFill>
                <a:latin typeface="Calibri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jay.weitzen@scranton.edu</a:t>
            </a:r>
            <a:r>
              <a:rPr lang="en-US" sz="2000" spc="-1">
                <a:solidFill>
                  <a:srgbClr val="00B0F0"/>
                </a:solidFill>
                <a:latin typeface="Calibri"/>
              </a:rPr>
              <a:t> </a:t>
            </a:r>
            <a:endParaRPr lang="en-US" sz="2000" spc="-1">
              <a:solidFill>
                <a:srgbClr val="00B0F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ftr"/>
          </p:nvPr>
        </p:nvSpPr>
        <p:spPr>
          <a:xfrm>
            <a:off x="4553040" y="6356520"/>
            <a:ext cx="30859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900" spc="-1">
                <a:solidFill>
                  <a:srgbClr val="FFFFFF"/>
                </a:solidFill>
                <a:latin typeface="Times New Roman"/>
              </a:rPr>
              <a:t>Suggs NN4NT</a:t>
            </a:r>
            <a:endParaRPr lang="en-US" sz="900" spc="-1">
              <a:latin typeface="Times New Roman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sldNum"/>
          </p:nvPr>
        </p:nvSpPr>
        <p:spPr>
          <a:xfrm>
            <a:off x="7982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3BDBA518-73BE-440E-BE33-7D2A34D84FD0}" type="slidenum">
              <a:rPr lang="en-US" sz="900" spc="-1">
                <a:solidFill>
                  <a:srgbClr val="FFFFFF"/>
                </a:solidFill>
                <a:latin typeface="Times New Roman"/>
              </a:rPr>
              <a:t>2</a:t>
            </a:fld>
            <a:endParaRPr lang="en-US" sz="900" spc="-1">
              <a:latin typeface="Times New Roman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85D56E-E763-F6C2-B3F7-E6CCE890351E}"/>
              </a:ext>
            </a:extLst>
          </p:cNvPr>
          <p:cNvSpPr txBox="1">
            <a:spLocks/>
          </p:cNvSpPr>
          <p:nvPr/>
        </p:nvSpPr>
        <p:spPr>
          <a:xfrm>
            <a:off x="358878" y="289270"/>
            <a:ext cx="8229240" cy="11448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79EF85-77AB-1B4A-46CE-8F0C5CFA57E5}"/>
              </a:ext>
            </a:extLst>
          </p:cNvPr>
          <p:cNvSpPr txBox="1">
            <a:spLocks/>
          </p:cNvSpPr>
          <p:nvPr/>
        </p:nvSpPr>
        <p:spPr>
          <a:xfrm>
            <a:off x="724713" y="1105697"/>
            <a:ext cx="9584997" cy="397728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Action Item Review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Summary of PHARLAP/</a:t>
            </a:r>
            <a:r>
              <a:rPr lang="en-US" sz="2400" dirty="0" err="1">
                <a:solidFill>
                  <a:schemeClr val="bg1"/>
                </a:solidFill>
              </a:rPr>
              <a:t>PyLAP</a:t>
            </a:r>
            <a:r>
              <a:rPr lang="en-US" sz="2400" dirty="0">
                <a:solidFill>
                  <a:schemeClr val="bg1"/>
                </a:solidFill>
              </a:rPr>
              <a:t> capability findings - Hipple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Presentation by Jay Weitzen on his students’ summer project on a tool for meteor scatter communications forecasting - Weitzen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Discussion of SARA proposal for North American Meteor Beacon System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	How does it contribute to MSWG research objectives?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	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B3211-B5CD-9B73-EB05-B5ABD6589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288" y="520488"/>
            <a:ext cx="10972320" cy="1144800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Action Item Review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0589728-40EA-90A9-C96B-56B0FDB03F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7590"/>
              </p:ext>
            </p:extLst>
          </p:nvPr>
        </p:nvGraphicFramePr>
        <p:xfrm>
          <a:off x="1159256" y="1665288"/>
          <a:ext cx="9873488" cy="486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8827">
                  <a:extLst>
                    <a:ext uri="{9D8B030D-6E8A-4147-A177-3AD203B41FA5}">
                      <a16:colId xmlns:a16="http://schemas.microsoft.com/office/drawing/2014/main" val="2513610190"/>
                    </a:ext>
                  </a:extLst>
                </a:gridCol>
                <a:gridCol w="1840343">
                  <a:extLst>
                    <a:ext uri="{9D8B030D-6E8A-4147-A177-3AD203B41FA5}">
                      <a16:colId xmlns:a16="http://schemas.microsoft.com/office/drawing/2014/main" val="2071354018"/>
                    </a:ext>
                  </a:extLst>
                </a:gridCol>
                <a:gridCol w="913996">
                  <a:extLst>
                    <a:ext uri="{9D8B030D-6E8A-4147-A177-3AD203B41FA5}">
                      <a16:colId xmlns:a16="http://schemas.microsoft.com/office/drawing/2014/main" val="3911528017"/>
                    </a:ext>
                  </a:extLst>
                </a:gridCol>
                <a:gridCol w="4823330">
                  <a:extLst>
                    <a:ext uri="{9D8B030D-6E8A-4147-A177-3AD203B41FA5}">
                      <a16:colId xmlns:a16="http://schemas.microsoft.com/office/drawing/2014/main" val="2413937744"/>
                    </a:ext>
                  </a:extLst>
                </a:gridCol>
                <a:gridCol w="1586992">
                  <a:extLst>
                    <a:ext uri="{9D8B030D-6E8A-4147-A177-3AD203B41FA5}">
                      <a16:colId xmlns:a16="http://schemas.microsoft.com/office/drawing/2014/main" val="12059890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err="1"/>
                        <a:t>Actionee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Due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243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Jay Weitzen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9/23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Investigate 1 sec Kostas coding (talk to David)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2060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Jay Weitzen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9/16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Present summary of student work on sporadic meteoroid comm 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986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Chip Sufitchi/Jay Wilson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Email Rob the SARA proposal for CW transmitter. Rob will put on </a:t>
                      </a:r>
                      <a:r>
                        <a:rPr lang="en-US" err="1"/>
                        <a:t>Github</a:t>
                      </a:r>
                      <a:r>
                        <a:rPr lang="en-US"/>
                        <a:t> 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Closed 9/9</a:t>
                      </a:r>
                    </a:p>
                    <a:p>
                      <a:r>
                        <a:rPr lang="en-US"/>
                        <a:t>Update 9/15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8190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Robert Hipple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9/23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Talk to </a:t>
                      </a:r>
                      <a:r>
                        <a:rPr lang="en-US" err="1"/>
                        <a:t>HamSCI</a:t>
                      </a:r>
                      <a:r>
                        <a:rPr lang="en-US"/>
                        <a:t> Ray Tracing group about meteor scatter application and possible Faraday rotation 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Closed 9/14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5327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945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5721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78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7322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79239-A497-01B6-40D8-E9444C24A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Weitzen – Summer student project</a:t>
            </a:r>
          </a:p>
        </p:txBody>
      </p:sp>
    </p:spTree>
    <p:extLst>
      <p:ext uri="{BB962C8B-B14F-4D97-AF65-F5344CB8AC3E}">
        <p14:creationId xmlns:p14="http://schemas.microsoft.com/office/powerpoint/2010/main" val="1579759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F43B6-7972-ACA5-CCA0-EACD581BD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Wilson/Sufitchi - SARA CW Beacon Proposal</a:t>
            </a:r>
          </a:p>
        </p:txBody>
      </p:sp>
    </p:spTree>
    <p:extLst>
      <p:ext uri="{BB962C8B-B14F-4D97-AF65-F5344CB8AC3E}">
        <p14:creationId xmlns:p14="http://schemas.microsoft.com/office/powerpoint/2010/main" val="3970252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993DB-51E8-99B5-7D9D-91A537C37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Backup</a:t>
            </a:r>
          </a:p>
        </p:txBody>
      </p:sp>
    </p:spTree>
    <p:extLst>
      <p:ext uri="{BB962C8B-B14F-4D97-AF65-F5344CB8AC3E}">
        <p14:creationId xmlns:p14="http://schemas.microsoft.com/office/powerpoint/2010/main" val="1605982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050A7-4438-1FC8-5237-81D4BD589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144" y="0"/>
            <a:ext cx="10972320" cy="1144800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Homework – Read/view the following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717C9D-EE02-24A0-0F4C-9505E0BE4391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09840" y="2061720"/>
            <a:ext cx="10972320" cy="3977280"/>
          </a:xfrm>
        </p:spPr>
        <p:txBody>
          <a:bodyPr/>
          <a:lstStyle/>
          <a:p>
            <a:pPr marL="108000" indent="0">
              <a:buNone/>
            </a:pPr>
            <a:r>
              <a:rPr lang="en-US" sz="2800">
                <a:solidFill>
                  <a:schemeClr val="bg1"/>
                </a:solidFill>
              </a:rPr>
              <a:t>Weitzen and Ralston MS review paper </a:t>
            </a:r>
            <a:r>
              <a:rPr lang="en-US" sz="1800">
                <a:solidFill>
                  <a:srgbClr val="00B0F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https://github.com/HamSCI/MSQP/blob/main/Weitzen_and_Ralston_Meteor_scatter_an_overview.pdf</a:t>
            </a:r>
            <a:r>
              <a:rPr lang="en-US" sz="1800">
                <a:solidFill>
                  <a:srgbClr val="00B0F0"/>
                </a:solidFill>
              </a:rPr>
              <a:t> </a:t>
            </a:r>
            <a:endParaRPr lang="en-US" sz="2000">
              <a:solidFill>
                <a:srgbClr val="00B0F0"/>
              </a:solidFill>
            </a:endParaRPr>
          </a:p>
          <a:p>
            <a:pPr marL="108000" indent="0">
              <a:buNone/>
            </a:pPr>
            <a:r>
              <a:rPr lang="en-US" sz="2800">
                <a:solidFill>
                  <a:schemeClr val="bg1"/>
                </a:solidFill>
              </a:rPr>
              <a:t>Suggs’ </a:t>
            </a:r>
            <a:r>
              <a:rPr lang="en-US" sz="2800" err="1">
                <a:solidFill>
                  <a:schemeClr val="bg1"/>
                </a:solidFill>
              </a:rPr>
              <a:t>HamSCI</a:t>
            </a:r>
            <a:r>
              <a:rPr lang="en-US" sz="2800">
                <a:solidFill>
                  <a:schemeClr val="bg1"/>
                </a:solidFill>
              </a:rPr>
              <a:t> talk/slides </a:t>
            </a:r>
            <a:r>
              <a:rPr lang="en-US" sz="1600">
                <a:solidFill>
                  <a:srgbClr val="00B0F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https://www.hamsci.org/sites/default/files/article/Workshop_2026/Meteor_Scatter_Science_Behind_the_Pings_HamSCI_conference_RevB.pdf</a:t>
            </a:r>
            <a:r>
              <a:rPr lang="en-US" sz="1600">
                <a:solidFill>
                  <a:srgbClr val="00B0F0"/>
                </a:solidFill>
              </a:rPr>
              <a:t> </a:t>
            </a:r>
          </a:p>
          <a:p>
            <a:pPr marL="108000" indent="0">
              <a:buNone/>
            </a:pPr>
            <a:r>
              <a:rPr lang="en-US" sz="1600">
                <a:solidFill>
                  <a:srgbClr val="00B0F0"/>
                </a:solidFill>
              </a:rPr>
              <a:t>https://www.youtube.com/watch?v=1pgrXqg435g&amp;t=3s</a:t>
            </a:r>
          </a:p>
          <a:p>
            <a:pPr marL="108000" indent="0">
              <a:buNone/>
            </a:pPr>
            <a:r>
              <a:rPr lang="en-US" sz="2800">
                <a:solidFill>
                  <a:schemeClr val="bg1"/>
                </a:solidFill>
              </a:rPr>
              <a:t>Balis+ – example of what can be done with CW forward scatter</a:t>
            </a:r>
          </a:p>
          <a:p>
            <a:pPr marL="108000" indent="0">
              <a:buNone/>
            </a:pPr>
            <a:r>
              <a:rPr lang="en-US" sz="1600">
                <a:solidFill>
                  <a:srgbClr val="00B0F0"/>
                </a:solidFill>
              </a:rPr>
              <a:t>https://github.com/HamSCI/MSQP/blob/main/Radio%20Science%20-%202025%20-%20Balis%20-%20Enhanced%20Meteoroid%20Trajectory%20and%20Speed%20Reconstruction%20Using%20a%20Forward%20Scatter%20Radio%20Network.pdf</a:t>
            </a:r>
          </a:p>
          <a:p>
            <a:pPr marL="108000" indent="0">
              <a:buNone/>
            </a:pPr>
            <a:r>
              <a:rPr lang="en-US" sz="2800">
                <a:solidFill>
                  <a:schemeClr val="bg1"/>
                </a:solidFill>
              </a:rPr>
              <a:t>McKinley chapters </a:t>
            </a:r>
            <a:r>
              <a:rPr lang="en-US" sz="1600">
                <a:solidFill>
                  <a:srgbClr val="00B0F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https://github.com/HamSCI/MSQP/blob/main/McKinley%20Meteor%20Science%20chapter%207.pdf</a:t>
            </a:r>
            <a:endParaRPr lang="en-US" sz="1600">
              <a:solidFill>
                <a:srgbClr val="00B0F0"/>
              </a:solidFill>
            </a:endParaRPr>
          </a:p>
          <a:p>
            <a:pPr marL="108000" indent="0">
              <a:buNone/>
            </a:pPr>
            <a:r>
              <a:rPr lang="en-US" sz="1600">
                <a:solidFill>
                  <a:srgbClr val="00B0F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https://github.com/HamSCI/MSQP/blob/main/McKinley%20Meteor%20Science%20chapter%208.pdf</a:t>
            </a:r>
            <a:endParaRPr lang="en-US" sz="1600">
              <a:solidFill>
                <a:srgbClr val="00B0F0"/>
              </a:solidFill>
            </a:endParaRPr>
          </a:p>
          <a:p>
            <a:pPr marL="108000" indent="0">
              <a:buNone/>
            </a:pPr>
            <a:r>
              <a:rPr lang="en-US" sz="1600">
                <a:solidFill>
                  <a:srgbClr val="00B0F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https://github.com/HamSCI/MSQP/blob/main/McKinley%20Meteor%20Science%20chapter%209.pdf</a:t>
            </a:r>
            <a:r>
              <a:rPr lang="en-US" sz="1600">
                <a:solidFill>
                  <a:srgbClr val="00B0F0"/>
                </a:solidFill>
              </a:rPr>
              <a:t> </a:t>
            </a:r>
          </a:p>
          <a:p>
            <a:pPr marL="108000" indent="0">
              <a:buNone/>
            </a:pPr>
            <a:r>
              <a:rPr lang="en-US" sz="2800">
                <a:solidFill>
                  <a:schemeClr val="bg1"/>
                </a:solidFill>
              </a:rPr>
              <a:t>MSK144 Protocol </a:t>
            </a:r>
            <a:r>
              <a:rPr lang="en-US" sz="1600">
                <a:solidFill>
                  <a:srgbClr val="00B0F0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https://github.com/HamSCI/MSQP/blob/main/MSK144_Protocol_QEX.pdf</a:t>
            </a:r>
            <a:r>
              <a:rPr lang="en-US" sz="1600">
                <a:solidFill>
                  <a:srgbClr val="00B0F0"/>
                </a:solidFill>
              </a:rPr>
              <a:t> </a:t>
            </a:r>
            <a:endParaRPr lang="en-US" sz="2800">
              <a:solidFill>
                <a:srgbClr val="00B0F0"/>
              </a:solidFill>
            </a:endParaRPr>
          </a:p>
          <a:p>
            <a:pPr marL="108000" indent="0">
              <a:buNone/>
            </a:pPr>
            <a:r>
              <a:rPr lang="en-US" sz="2800">
                <a:solidFill>
                  <a:schemeClr val="bg1"/>
                </a:solidFill>
              </a:rPr>
              <a:t>CMOR radar info </a:t>
            </a:r>
            <a:r>
              <a:rPr lang="en-US" sz="1600">
                <a:solidFill>
                  <a:srgbClr val="00B0F0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https://aquarid.physics.uwo.ca/research/radar/cmor_intro.html</a:t>
            </a:r>
            <a:r>
              <a:rPr lang="en-US" sz="1600">
                <a:solidFill>
                  <a:srgbClr val="00B0F0"/>
                </a:solidFill>
              </a:rPr>
              <a:t> 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667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C:\JIM'S\SSSAAS.FLD\SSUAS696.ppt</Template>
  <TotalTime>12</TotalTime>
  <Words>525</Words>
  <Application>Microsoft Office PowerPoint</Application>
  <PresentationFormat>Widescreen</PresentationFormat>
  <Paragraphs>64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Calibri</vt:lpstr>
      <vt:lpstr>Calibri Light</vt:lpstr>
      <vt:lpstr>Symbol</vt:lpstr>
      <vt:lpstr>Times New Roman</vt:lpstr>
      <vt:lpstr>Wingdings</vt:lpstr>
      <vt:lpstr>Office Theme</vt:lpstr>
      <vt:lpstr>Office Theme</vt:lpstr>
      <vt:lpstr>HamSCI Meteor Scatter Working Group   Sept 16, 2026</vt:lpstr>
      <vt:lpstr>PowerPoint Presentation</vt:lpstr>
      <vt:lpstr>Action Item Review</vt:lpstr>
      <vt:lpstr>Weitzen – Summer student project</vt:lpstr>
      <vt:lpstr>Wilson/Sufitchi - SARA CW Beacon Proposal</vt:lpstr>
      <vt:lpstr>Backup</vt:lpstr>
      <vt:lpstr>Homework – Read/view the following</vt:lpstr>
    </vt:vector>
  </TitlesOfParts>
  <Company>NASA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ISS Space Environments</dc:title>
  <dc:subject/>
  <dc:creator>Rob Suggs</dc:creator>
  <dc:description/>
  <cp:lastModifiedBy>Rob Suggs</cp:lastModifiedBy>
  <cp:revision>3</cp:revision>
  <cp:lastPrinted>2000-08-10T15:04:34Z</cp:lastPrinted>
  <dcterms:created xsi:type="dcterms:W3CDTF">1997-05-08T12:17:31Z</dcterms:created>
  <dcterms:modified xsi:type="dcterms:W3CDTF">2026-10-28T16:25:14Z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r8>0</vt:r8>
  </property>
  <property fmtid="{D5CDD505-2E9C-101B-9397-08002B2CF9AE}" pid="3" name="HyperlinksChanged">
    <vt:bool>false</vt:bool>
  </property>
  <property fmtid="{D5CDD505-2E9C-101B-9397-08002B2CF9AE}" pid="4" name="LinksUpToDate">
    <vt:bool>false</vt:bool>
  </property>
  <property fmtid="{D5CDD505-2E9C-101B-9397-08002B2CF9AE}" pid="5" name="MMClips">
    <vt:r8>8</vt:r8>
  </property>
  <property fmtid="{D5CDD505-2E9C-101B-9397-08002B2CF9AE}" pid="6" name="Notes">
    <vt:r8>1</vt:r8>
  </property>
  <property fmtid="{D5CDD505-2E9C-101B-9397-08002B2CF9AE}" pid="7" name="PresentationFormat">
    <vt:lpwstr>On-screen Show (4:3)</vt:lpwstr>
  </property>
  <property fmtid="{D5CDD505-2E9C-101B-9397-08002B2CF9AE}" pid="8" name="ScaleCrop">
    <vt:bool>false</vt:bool>
  </property>
  <property fmtid="{D5CDD505-2E9C-101B-9397-08002B2CF9AE}" pid="9" name="ShareDoc">
    <vt:bool>false</vt:bool>
  </property>
  <property fmtid="{D5CDD505-2E9C-101B-9397-08002B2CF9AE}" pid="10" name="Slides">
    <vt:r8>37</vt:r8>
  </property>
</Properties>
</file>