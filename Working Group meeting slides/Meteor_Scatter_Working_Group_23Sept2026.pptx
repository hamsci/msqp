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0"/>
  </p:notesMasterIdLst>
  <p:sldIdLst>
    <p:sldId id="256" r:id="rId3"/>
    <p:sldId id="539" r:id="rId4"/>
    <p:sldId id="258" r:id="rId5"/>
    <p:sldId id="543" r:id="rId6"/>
    <p:sldId id="542" r:id="rId7"/>
    <p:sldId id="541" r:id="rId8"/>
    <p:sldId id="538" r:id="rId9"/>
  </p:sldIdLst>
  <p:sldSz cx="12192000" cy="6858000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Suggs" userId="2bb4e71def27aae0" providerId="LiveId" clId="{FA8263B0-A54B-464D-8B57-E62DDB4ABA2A}"/>
    <pc:docChg chg="custSel delSld modSld">
      <pc:chgData name="Rob Suggs" userId="2bb4e71def27aae0" providerId="LiveId" clId="{FA8263B0-A54B-464D-8B57-E62DDB4ABA2A}" dt="2026-10-28T16:24:09.714" v="27" actId="47"/>
      <pc:docMkLst>
        <pc:docMk/>
      </pc:docMkLst>
      <pc:sldChg chg="modSp del mod modShow">
        <pc:chgData name="Rob Suggs" userId="2bb4e71def27aae0" providerId="LiveId" clId="{FA8263B0-A54B-464D-8B57-E62DDB4ABA2A}" dt="2026-10-28T16:24:09.714" v="27" actId="47"/>
        <pc:sldMkLst>
          <pc:docMk/>
          <pc:sldMk cId="3216765036" sldId="5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B0E9CDED-5838-4A8F-93C1-2F375E7460F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4000" y="1122480"/>
            <a:ext cx="914352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5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E249459-242B-44A8-A357-F19B4F98C9DA}" type="datetime1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963A8826-90A2-4B3A-8565-253E3B87A891}" type="slidenum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B461371-89F2-42DA-96D1-AF6A5097D3A1}" type="datetime1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1571C37-CE1F-4E00-BCD7-676CDB0FFE6F}" type="slidenum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FFFFFF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FFFFFF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FFFFFF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n4nt@outlook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ay.Weitzen@scranton.edu" TargetMode="External"/><Relationship Id="rId5" Type="http://schemas.openxmlformats.org/officeDocument/2006/relationships/hyperlink" Target="mailto:jay_weitzen@uml.edu" TargetMode="External"/><Relationship Id="rId4" Type="http://schemas.openxmlformats.org/officeDocument/2006/relationships/hyperlink" Target="mailto:robert.suggs@scranton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quarid.physics.uwo.ca/research/radar/cmor_intro.html" TargetMode="External"/><Relationship Id="rId3" Type="http://schemas.openxmlformats.org/officeDocument/2006/relationships/hyperlink" Target="https://www.hamsci.org/sites/default/files/article/Workshop_2026/Meteor_Scatter_Science_Behind_the_Pings_HamSCI_conference_RevB.pdf" TargetMode="External"/><Relationship Id="rId7" Type="http://schemas.openxmlformats.org/officeDocument/2006/relationships/hyperlink" Target="https://github.com/HamSCI/MSQP/blob/main/MSK144_Protocol_QEX.pdf" TargetMode="External"/><Relationship Id="rId2" Type="http://schemas.openxmlformats.org/officeDocument/2006/relationships/hyperlink" Target="https://github.com/HamSCI/MSQP/blob/main/Weitzen_and_Ralston_Meteor_scatter_an_overview.pdf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github.com/HamSCI/MSQP/blob/main/McKinley%20Meteor%20Science%20chapter%209.pdf" TargetMode="External"/><Relationship Id="rId5" Type="http://schemas.openxmlformats.org/officeDocument/2006/relationships/hyperlink" Target="https://github.com/HamSCI/MSQP/blob/main/McKinley%20Meteor%20Science%20chapter%208.pdf" TargetMode="External"/><Relationship Id="rId4" Type="http://schemas.openxmlformats.org/officeDocument/2006/relationships/hyperlink" Target="https://github.com/HamSCI/MSQP/blob/main/McKinley%20Meteor%20Science%20chapter%207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Content Placeholder 5"/>
          <p:cNvPicPr/>
          <p:nvPr/>
        </p:nvPicPr>
        <p:blipFill>
          <a:blip r:embed="rId2"/>
          <a:stretch/>
        </p:blipFill>
        <p:spPr>
          <a:xfrm rot="10800000">
            <a:off x="0" y="0"/>
            <a:ext cx="12192000" cy="68900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525" y="268066"/>
            <a:ext cx="7338721" cy="1790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pc="-1" dirty="0" err="1">
                <a:solidFill>
                  <a:srgbClr val="FFFFFF"/>
                </a:solidFill>
                <a:latin typeface="Calibri Light"/>
              </a:rPr>
              <a:t>HamSCI</a:t>
            </a:r>
            <a:br>
              <a:rPr lang="en-US" sz="40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4000" b="1" spc="-1" dirty="0">
                <a:solidFill>
                  <a:srgbClr val="FFFFFF"/>
                </a:solidFill>
                <a:latin typeface="Calibri Light"/>
              </a:rPr>
              <a:t>Meteor Scatter Working Group</a:t>
            </a:r>
            <a:br>
              <a:rPr lang="en-US" sz="32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2400" b="1" spc="-1" dirty="0">
                <a:solidFill>
                  <a:srgbClr val="FFFFFF"/>
                </a:solidFill>
                <a:latin typeface="Calibri Light"/>
              </a:rPr>
              <a:t>Sept 23, 2026</a:t>
            </a:r>
            <a:endParaRPr lang="en-US" sz="32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267462" y="3857193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Rob Suggs Ph.D. , NN4NT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NASA Marshall Space Flight Center Amateur Radio Club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nn4nt@outlook.com</a:t>
            </a:r>
            <a:endParaRPr lang="en-US" sz="2000" spc="-1">
              <a:solidFill>
                <a:srgbClr val="00B0F0"/>
              </a:solidFill>
              <a:latin typeface="Calibri"/>
            </a:endParaRP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robert.suggs@scranton.edu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7815C548-23BE-7EE3-5AA9-C49F42C7269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37444" y="3857192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Jay Weitzen Ph.D. , AC1SN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University of Massachusetts - Lowell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jay_weitzen@uml.edu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jay.weitzen@scranton.edu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3211-B5CD-9B73-EB05-B5ABD658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5" y="-154426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Action Item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589728-40EA-90A9-C96B-56B0FDB03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49082"/>
              </p:ext>
            </p:extLst>
          </p:nvPr>
        </p:nvGraphicFramePr>
        <p:xfrm>
          <a:off x="752761" y="863600"/>
          <a:ext cx="9873488" cy="513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827">
                  <a:extLst>
                    <a:ext uri="{9D8B030D-6E8A-4147-A177-3AD203B41FA5}">
                      <a16:colId xmlns:a16="http://schemas.microsoft.com/office/drawing/2014/main" val="2513610190"/>
                    </a:ext>
                  </a:extLst>
                </a:gridCol>
                <a:gridCol w="1840343">
                  <a:extLst>
                    <a:ext uri="{9D8B030D-6E8A-4147-A177-3AD203B41FA5}">
                      <a16:colId xmlns:a16="http://schemas.microsoft.com/office/drawing/2014/main" val="2071354018"/>
                    </a:ext>
                  </a:extLst>
                </a:gridCol>
                <a:gridCol w="913996">
                  <a:extLst>
                    <a:ext uri="{9D8B030D-6E8A-4147-A177-3AD203B41FA5}">
                      <a16:colId xmlns:a16="http://schemas.microsoft.com/office/drawing/2014/main" val="3911528017"/>
                    </a:ext>
                  </a:extLst>
                </a:gridCol>
                <a:gridCol w="4823330">
                  <a:extLst>
                    <a:ext uri="{9D8B030D-6E8A-4147-A177-3AD203B41FA5}">
                      <a16:colId xmlns:a16="http://schemas.microsoft.com/office/drawing/2014/main" val="2413937744"/>
                    </a:ext>
                  </a:extLst>
                </a:gridCol>
                <a:gridCol w="1586992">
                  <a:extLst>
                    <a:ext uri="{9D8B030D-6E8A-4147-A177-3AD203B41FA5}">
                      <a16:colId xmlns:a16="http://schemas.microsoft.com/office/drawing/2014/main" val="1205989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Actionee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4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Investigate 1 sec Kostas coding (talk to David)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6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Present summary of student work on sporadic meteoroid comm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98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Chip Sufitchi/Jay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Email Rob the SARA proposal for CW transmitter. Rob will put on </a:t>
                      </a:r>
                      <a:r>
                        <a:rPr lang="en-US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Github</a:t>
                      </a:r>
                      <a:r>
                        <a:rPr lang="en-US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9/9</a:t>
                      </a:r>
                    </a:p>
                    <a:p>
                      <a:r>
                        <a:rPr lang="en-US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Updated 9/15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19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Talk to </a:t>
                      </a:r>
                      <a:r>
                        <a:rPr lang="en-US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HamSCI</a:t>
                      </a:r>
                      <a:r>
                        <a:rPr lang="en-US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Ray Tracing group about meteor scatter application and possible Faraday rotation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32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Chinese paper on meteor ionization trail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1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78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2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BDBA518-73BE-440E-BE33-7D2A34D84FD0}" type="slidenum">
              <a:rPr lang="en-US" sz="900" spc="-1">
                <a:solidFill>
                  <a:srgbClr val="FFFFFF"/>
                </a:solidFill>
                <a:latin typeface="Times New Roman"/>
              </a:rPr>
              <a:t>3</a:t>
            </a:fld>
            <a:endParaRPr lang="en-US" sz="900" spc="-1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D56E-E763-F6C2-B3F7-E6CCE890351E}"/>
              </a:ext>
            </a:extLst>
          </p:cNvPr>
          <p:cNvSpPr txBox="1">
            <a:spLocks/>
          </p:cNvSpPr>
          <p:nvPr/>
        </p:nvSpPr>
        <p:spPr>
          <a:xfrm>
            <a:off x="358878" y="289270"/>
            <a:ext cx="8229240" cy="1144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9EF85-77AB-1B4A-46CE-8F0C5CFA57E5}"/>
              </a:ext>
            </a:extLst>
          </p:cNvPr>
          <p:cNvSpPr txBox="1">
            <a:spLocks/>
          </p:cNvSpPr>
          <p:nvPr/>
        </p:nvSpPr>
        <p:spPr>
          <a:xfrm>
            <a:off x="724713" y="1105697"/>
            <a:ext cx="9584997" cy="3977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Action Item Review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Capstone proposal comments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Presentation on students’ summer project on a tool for meteor scatter communications forecasting - Weitzen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Update on testing of CW beacon system - Wilson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Discussion of future topics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Possible tutorials on: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Scattering geometry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Sporadic modeling – Meteoroid Engineering Model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Shower modeling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CMOR radar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9239-A497-01B6-40D8-E9444C24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Weitzen – Summer student project</a:t>
            </a:r>
          </a:p>
        </p:txBody>
      </p:sp>
    </p:spTree>
    <p:extLst>
      <p:ext uri="{BB962C8B-B14F-4D97-AF65-F5344CB8AC3E}">
        <p14:creationId xmlns:p14="http://schemas.microsoft.com/office/powerpoint/2010/main" val="157975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43B6-7972-ACA5-CCA0-EACD581B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Wilson - CW Beacon Testing</a:t>
            </a:r>
          </a:p>
        </p:txBody>
      </p:sp>
    </p:spTree>
    <p:extLst>
      <p:ext uri="{BB962C8B-B14F-4D97-AF65-F5344CB8AC3E}">
        <p14:creationId xmlns:p14="http://schemas.microsoft.com/office/powerpoint/2010/main" val="397025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93DB-51E8-99B5-7D9D-91A537C3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0598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0A7-4438-1FC8-5237-81D4BD58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0"/>
            <a:ext cx="10972320" cy="114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Homework – Read/view the following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17C9D-EE02-24A0-0F4C-9505E0BE43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840" y="2061720"/>
            <a:ext cx="10972320" cy="3977280"/>
          </a:xfrm>
        </p:spPr>
        <p:txBody>
          <a:bodyPr/>
          <a:lstStyle/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Weitzen and Ralston MS review paper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https://github.com/HamSCI/MSQP/blob/main/Weitzen_and_Ralston_Meteor_scatter_an_overview.pdf</a:t>
            </a:r>
            <a:r>
              <a:rPr lang="en-US" sz="1800" dirty="0">
                <a:solidFill>
                  <a:srgbClr val="00B0F0"/>
                </a:solidFill>
              </a:rPr>
              <a:t> </a:t>
            </a:r>
            <a:endParaRPr lang="en-US" sz="20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Suggs’ </a:t>
            </a:r>
            <a:r>
              <a:rPr lang="en-US" sz="2800" dirty="0" err="1">
                <a:solidFill>
                  <a:schemeClr val="bg1"/>
                </a:solidFill>
              </a:rPr>
              <a:t>HamSCI</a:t>
            </a:r>
            <a:r>
              <a:rPr lang="en-US" sz="2800" dirty="0">
                <a:solidFill>
                  <a:schemeClr val="bg1"/>
                </a:solidFill>
              </a:rPr>
              <a:t> talk/slides </a:t>
            </a:r>
            <a:r>
              <a:rPr lang="en-US" sz="16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https://www.hamsci.org/sites/default/files/article/Workshop_2026/Meteor_Scatter_Science_Behind_the_Pings_HamSCI_conference_RevB.pdf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1600" dirty="0">
                <a:solidFill>
                  <a:srgbClr val="00B0F0"/>
                </a:solidFill>
              </a:rPr>
              <a:t>https://www.youtube.com/watch?v=1pgrXqg435g&amp;t=3s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Balis+ – example of what can be done with CW forward scatter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McKinley chapters </a:t>
            </a:r>
            <a:r>
              <a:rPr lang="en-US" sz="16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https://github.com/HamSCI/MSQP/blob/main/McKinley%20Meteor%20Science%20chapter%207.pdf</a:t>
            </a:r>
            <a:endParaRPr lang="en-US" sz="16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1600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https://github.com/HamSCI/MSQP/blob/main/McKinley%20Meteor%20Science%20chapter%208.pdf</a:t>
            </a:r>
            <a:endParaRPr lang="en-US" sz="16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1600" dirty="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https://github.com/HamSCI/MSQP/blob/main/McKinley%20Meteor%20Science%20chapter%209.pdf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MSK144 Protocol </a:t>
            </a:r>
            <a:r>
              <a:rPr lang="en-US" sz="1600" dirty="0">
                <a:solidFill>
                  <a:srgbClr val="00B0F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https://github.com/HamSCI/MSQP/blob/main/MSK144_Protocol_QEX.pdf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endParaRPr lang="en-US" sz="28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CMOR radar info </a:t>
            </a:r>
            <a:r>
              <a:rPr lang="en-US" sz="1600" dirty="0">
                <a:solidFill>
                  <a:srgbClr val="00B0F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https://aquarid.physics.uwo.ca/research/radar/cmor_intro.html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6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C:\JIM'S\SSSAAS.FLD\SSUAS696.ppt</Template>
  <TotalTime>979</TotalTime>
  <Words>489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HamSCI Meteor Scatter Working Group   Sept 23, 2026</vt:lpstr>
      <vt:lpstr>Action Item Review</vt:lpstr>
      <vt:lpstr>PowerPoint Presentation</vt:lpstr>
      <vt:lpstr>Weitzen – Summer student project</vt:lpstr>
      <vt:lpstr>Wilson - CW Beacon Testing</vt:lpstr>
      <vt:lpstr>Backup</vt:lpstr>
      <vt:lpstr>Homework – Read/view the following</vt:lpstr>
    </vt:vector>
  </TitlesOfParts>
  <Company>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Space Environments</dc:title>
  <dc:subject/>
  <dc:creator>Rob Suggs</dc:creator>
  <dc:description/>
  <cp:lastModifiedBy>Rob Suggs</cp:lastModifiedBy>
  <cp:revision>4</cp:revision>
  <cp:lastPrinted>2000-08-10T15:04:34Z</cp:lastPrinted>
  <dcterms:created xsi:type="dcterms:W3CDTF">1997-05-08T12:17:31Z</dcterms:created>
  <dcterms:modified xsi:type="dcterms:W3CDTF">2026-10-28T16:24:16Z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8</vt:r8>
  </property>
  <property fmtid="{D5CDD505-2E9C-101B-9397-08002B2CF9AE}" pid="6" name="Notes">
    <vt:r8>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37</vt:r8>
  </property>
</Properties>
</file>