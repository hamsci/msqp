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8" r:id="rId4"/>
    <p:sldId id="547" r:id="rId5"/>
    <p:sldId id="539" r:id="rId6"/>
    <p:sldId id="548" r:id="rId7"/>
    <p:sldId id="550" r:id="rId8"/>
    <p:sldId id="552" r:id="rId9"/>
    <p:sldId id="553" r:id="rId10"/>
    <p:sldId id="272" r:id="rId11"/>
    <p:sldId id="275" r:id="rId12"/>
    <p:sldId id="294" r:id="rId13"/>
    <p:sldId id="273" r:id="rId14"/>
    <p:sldId id="542" r:id="rId15"/>
    <p:sldId id="554" r:id="rId16"/>
    <p:sldId id="541" r:id="rId17"/>
    <p:sldId id="538" r:id="rId18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DA954-5163-4313-8B81-B6F53469E99E}" v="12" dt="2026-10-19T21:27:40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undo custSel addSld delSld modSld sldOrd">
      <pc:chgData name="Rob Suggs" userId="2bb4e71def27aae0" providerId="LiveId" clId="{FA8263B0-A54B-464D-8B57-E62DDB4ABA2A}" dt="2026-10-28T16:22:17.770" v="1923" actId="47"/>
      <pc:docMkLst>
        <pc:docMk/>
      </pc:docMkLst>
      <pc:sldChg chg="modSp mod">
        <pc:chgData name="Rob Suggs" userId="2bb4e71def27aae0" providerId="LiveId" clId="{FA8263B0-A54B-464D-8B57-E62DDB4ABA2A}" dt="2026-10-21T03:11:20.888" v="1920" actId="2057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10-21T03:11:20.888" v="1920" actId="20577"/>
          <ac:spMkLst>
            <pc:docMk/>
            <pc:sldMk cId="0" sldId="258"/>
            <ac:spMk id="3" creationId="{8779EF85-77AB-1B4A-46CE-8F0C5CFA57E5}"/>
          </ac:spMkLst>
        </pc:spChg>
      </pc:sldChg>
      <pc:sldChg chg="modSp add mod">
        <pc:chgData name="Rob Suggs" userId="2bb4e71def27aae0" providerId="LiveId" clId="{FA8263B0-A54B-464D-8B57-E62DDB4ABA2A}" dt="2026-10-19T21:29:51.865" v="1558" actId="20577"/>
        <pc:sldMkLst>
          <pc:docMk/>
          <pc:sldMk cId="0" sldId="272"/>
        </pc:sldMkLst>
        <pc:spChg chg="mod">
          <ac:chgData name="Rob Suggs" userId="2bb4e71def27aae0" providerId="LiveId" clId="{FA8263B0-A54B-464D-8B57-E62DDB4ABA2A}" dt="2026-10-19T21:29:51.865" v="1558" actId="20577"/>
          <ac:spMkLst>
            <pc:docMk/>
            <pc:sldMk cId="0" sldId="272"/>
            <ac:spMk id="232" creationId="{00000000-0000-0000-0000-000000000000}"/>
          </ac:spMkLst>
        </pc:spChg>
      </pc:sldChg>
      <pc:sldChg chg="add">
        <pc:chgData name="Rob Suggs" userId="2bb4e71def27aae0" providerId="LiveId" clId="{FA8263B0-A54B-464D-8B57-E62DDB4ABA2A}" dt="2026-10-19T21:27:40.963" v="1527"/>
        <pc:sldMkLst>
          <pc:docMk/>
          <pc:sldMk cId="0" sldId="273"/>
        </pc:sldMkLst>
      </pc:sldChg>
      <pc:sldChg chg="add">
        <pc:chgData name="Rob Suggs" userId="2bb4e71def27aae0" providerId="LiveId" clId="{FA8263B0-A54B-464D-8B57-E62DDB4ABA2A}" dt="2026-10-19T21:27:40.963" v="1527"/>
        <pc:sldMkLst>
          <pc:docMk/>
          <pc:sldMk cId="0" sldId="275"/>
        </pc:sldMkLst>
      </pc:sldChg>
      <pc:sldChg chg="add">
        <pc:chgData name="Rob Suggs" userId="2bb4e71def27aae0" providerId="LiveId" clId="{FA8263B0-A54B-464D-8B57-E62DDB4ABA2A}" dt="2026-10-19T21:27:40.963" v="1527"/>
        <pc:sldMkLst>
          <pc:docMk/>
          <pc:sldMk cId="597924753" sldId="294"/>
        </pc:sldMkLst>
      </pc:sldChg>
      <pc:sldChg chg="modSp mod">
        <pc:chgData name="Rob Suggs" userId="2bb4e71def27aae0" providerId="LiveId" clId="{FA8263B0-A54B-464D-8B57-E62DDB4ABA2A}" dt="2026-10-21T03:10:41.838" v="1895" actId="20577"/>
        <pc:sldMkLst>
          <pc:docMk/>
          <pc:sldMk cId="1387322981" sldId="539"/>
        </pc:sldMkLst>
        <pc:graphicFrameChg chg="mod modGraphic">
          <ac:chgData name="Rob Suggs" userId="2bb4e71def27aae0" providerId="LiveId" clId="{FA8263B0-A54B-464D-8B57-E62DDB4ABA2A}" dt="2026-10-21T03:10:41.838" v="1895" actId="20577"/>
          <ac:graphicFrameMkLst>
            <pc:docMk/>
            <pc:sldMk cId="1387322981" sldId="539"/>
            <ac:graphicFrameMk id="4" creationId="{50589728-40EA-90A9-C96B-56B0FDB03FC4}"/>
          </ac:graphicFrameMkLst>
        </pc:graphicFrameChg>
      </pc:sldChg>
      <pc:sldChg chg="ord">
        <pc:chgData name="Rob Suggs" userId="2bb4e71def27aae0" providerId="LiveId" clId="{FA8263B0-A54B-464D-8B57-E62DDB4ABA2A}" dt="2026-10-19T21:28:40.010" v="1531"/>
        <pc:sldMkLst>
          <pc:docMk/>
          <pc:sldMk cId="1605982187" sldId="541"/>
        </pc:sldMkLst>
      </pc:sldChg>
      <pc:sldChg chg="ord">
        <pc:chgData name="Rob Suggs" userId="2bb4e71def27aae0" providerId="LiveId" clId="{FA8263B0-A54B-464D-8B57-E62DDB4ABA2A}" dt="2026-10-19T21:39:49.590" v="1767"/>
        <pc:sldMkLst>
          <pc:docMk/>
          <pc:sldMk cId="3970252200" sldId="542"/>
        </pc:sldMkLst>
      </pc:sldChg>
      <pc:sldChg chg="del mod modShow">
        <pc:chgData name="Rob Suggs" userId="2bb4e71def27aae0" providerId="LiveId" clId="{FA8263B0-A54B-464D-8B57-E62DDB4ABA2A}" dt="2026-10-28T16:22:12.725" v="1921" actId="47"/>
        <pc:sldMkLst>
          <pc:docMk/>
          <pc:sldMk cId="3216765036" sldId="544"/>
        </pc:sldMkLst>
      </pc:sldChg>
      <pc:sldChg chg="del">
        <pc:chgData name="Rob Suggs" userId="2bb4e71def27aae0" providerId="LiveId" clId="{FA8263B0-A54B-464D-8B57-E62DDB4ABA2A}" dt="2026-10-28T16:22:17.770" v="1923" actId="47"/>
        <pc:sldMkLst>
          <pc:docMk/>
          <pc:sldMk cId="1883344370" sldId="545"/>
        </pc:sldMkLst>
      </pc:sldChg>
      <pc:sldChg chg="del mod modShow">
        <pc:chgData name="Rob Suggs" userId="2bb4e71def27aae0" providerId="LiveId" clId="{FA8263B0-A54B-464D-8B57-E62DDB4ABA2A}" dt="2026-10-28T16:22:15.902" v="1922" actId="47"/>
        <pc:sldMkLst>
          <pc:docMk/>
          <pc:sldMk cId="2908681090" sldId="546"/>
        </pc:sldMkLst>
      </pc:sldChg>
      <pc:sldChg chg="modSp mod modClrScheme chgLayout">
        <pc:chgData name="Rob Suggs" userId="2bb4e71def27aae0" providerId="LiveId" clId="{FA8263B0-A54B-464D-8B57-E62DDB4ABA2A}" dt="2026-10-21T03:09:43.400" v="1841" actId="20577"/>
        <pc:sldMkLst>
          <pc:docMk/>
          <pc:sldMk cId="2510175587" sldId="547"/>
        </pc:sldMkLst>
        <pc:spChg chg="mod ord">
          <ac:chgData name="Rob Suggs" userId="2bb4e71def27aae0" providerId="LiveId" clId="{FA8263B0-A54B-464D-8B57-E62DDB4ABA2A}" dt="2026-10-19T19:21:47.959" v="968" actId="700"/>
          <ac:spMkLst>
            <pc:docMk/>
            <pc:sldMk cId="2510175587" sldId="547"/>
            <ac:spMk id="2" creationId="{B1922C51-AFDB-B83A-57B7-0192A4360880}"/>
          </ac:spMkLst>
        </pc:spChg>
        <pc:spChg chg="mod">
          <ac:chgData name="Rob Suggs" userId="2bb4e71def27aae0" providerId="LiveId" clId="{FA8263B0-A54B-464D-8B57-E62DDB4ABA2A}" dt="2026-10-21T03:09:43.400" v="1841" actId="20577"/>
          <ac:spMkLst>
            <pc:docMk/>
            <pc:sldMk cId="2510175587" sldId="547"/>
            <ac:spMk id="3" creationId="{D2E9C48A-02EC-F417-DA44-6E19BA98217D}"/>
          </ac:spMkLst>
        </pc:spChg>
      </pc:sldChg>
      <pc:sldChg chg="addSp modSp mod chgLayout">
        <pc:chgData name="Rob Suggs" userId="2bb4e71def27aae0" providerId="LiveId" clId="{FA8263B0-A54B-464D-8B57-E62DDB4ABA2A}" dt="2026-10-19T21:32:25.547" v="1643" actId="20577"/>
        <pc:sldMkLst>
          <pc:docMk/>
          <pc:sldMk cId="3736236783" sldId="550"/>
        </pc:sldMkLst>
        <pc:spChg chg="mod ord">
          <ac:chgData name="Rob Suggs" userId="2bb4e71def27aae0" providerId="LiveId" clId="{FA8263B0-A54B-464D-8B57-E62DDB4ABA2A}" dt="2026-10-19T19:35:16.171" v="1354" actId="20577"/>
          <ac:spMkLst>
            <pc:docMk/>
            <pc:sldMk cId="3736236783" sldId="550"/>
            <ac:spMk id="2" creationId="{65000763-7B1F-73FE-180E-CFCC3DBF995A}"/>
          </ac:spMkLst>
        </pc:spChg>
        <pc:spChg chg="add mod">
          <ac:chgData name="Rob Suggs" userId="2bb4e71def27aae0" providerId="LiveId" clId="{FA8263B0-A54B-464D-8B57-E62DDB4ABA2A}" dt="2026-10-19T21:32:25.547" v="1643" actId="20577"/>
          <ac:spMkLst>
            <pc:docMk/>
            <pc:sldMk cId="3736236783" sldId="550"/>
            <ac:spMk id="3" creationId="{87BA8373-FE35-C0AF-CF69-1095F493AC0A}"/>
          </ac:spMkLst>
        </pc:spChg>
      </pc:sldChg>
      <pc:sldChg chg="addSp delSp modSp new mod modClrScheme chgLayout">
        <pc:chgData name="Rob Suggs" userId="2bb4e71def27aae0" providerId="LiveId" clId="{FA8263B0-A54B-464D-8B57-E62DDB4ABA2A}" dt="2026-10-19T21:33:27.355" v="1697" actId="1076"/>
        <pc:sldMkLst>
          <pc:docMk/>
          <pc:sldMk cId="1967704846" sldId="552"/>
        </pc:sldMkLst>
        <pc:spChg chg="add mod">
          <ac:chgData name="Rob Suggs" userId="2bb4e71def27aae0" providerId="LiveId" clId="{FA8263B0-A54B-464D-8B57-E62DDB4ABA2A}" dt="2026-10-19T21:33:27.355" v="1697" actId="1076"/>
          <ac:spMkLst>
            <pc:docMk/>
            <pc:sldMk cId="1967704846" sldId="552"/>
            <ac:spMk id="8" creationId="{E2B497B4-D7FE-4149-3B8E-E10FEE4ECED1}"/>
          </ac:spMkLst>
        </pc:spChg>
        <pc:spChg chg="add mod">
          <ac:chgData name="Rob Suggs" userId="2bb4e71def27aae0" providerId="LiveId" clId="{FA8263B0-A54B-464D-8B57-E62DDB4ABA2A}" dt="2026-10-19T19:39:55.974" v="1388" actId="20577"/>
          <ac:spMkLst>
            <pc:docMk/>
            <pc:sldMk cId="1967704846" sldId="552"/>
            <ac:spMk id="10" creationId="{89D2B046-6C3C-2072-692E-81A8E7EA8CD3}"/>
          </ac:spMkLst>
        </pc:spChg>
        <pc:spChg chg="add mod">
          <ac:chgData name="Rob Suggs" userId="2bb4e71def27aae0" providerId="LiveId" clId="{FA8263B0-A54B-464D-8B57-E62DDB4ABA2A}" dt="2026-10-19T19:40:31.760" v="1423" actId="1076"/>
          <ac:spMkLst>
            <pc:docMk/>
            <pc:sldMk cId="1967704846" sldId="552"/>
            <ac:spMk id="17" creationId="{A2BD17F2-1198-9A4E-C93D-0A90F3F20CFE}"/>
          </ac:spMkLst>
        </pc:spChg>
        <pc:picChg chg="add mod">
          <ac:chgData name="Rob Suggs" userId="2bb4e71def27aae0" providerId="LiveId" clId="{FA8263B0-A54B-464D-8B57-E62DDB4ABA2A}" dt="2026-10-19T19:32:35.791" v="1267" actId="1076"/>
          <ac:picMkLst>
            <pc:docMk/>
            <pc:sldMk cId="1967704846" sldId="552"/>
            <ac:picMk id="7" creationId="{16E64789-BA0F-40DA-E665-6560BAB4B1C8}"/>
          </ac:picMkLst>
        </pc:picChg>
        <pc:cxnChg chg="add">
          <ac:chgData name="Rob Suggs" userId="2bb4e71def27aae0" providerId="LiveId" clId="{FA8263B0-A54B-464D-8B57-E62DDB4ABA2A}" dt="2026-10-19T19:28:32.687" v="1261" actId="11529"/>
          <ac:cxnSpMkLst>
            <pc:docMk/>
            <pc:sldMk cId="1967704846" sldId="552"/>
            <ac:cxnSpMk id="3" creationId="{83820766-298C-66A7-AA07-0788F2ED044E}"/>
          </ac:cxnSpMkLst>
        </pc:cxnChg>
        <pc:cxnChg chg="add mod">
          <ac:chgData name="Rob Suggs" userId="2bb4e71def27aae0" providerId="LiveId" clId="{FA8263B0-A54B-464D-8B57-E62DDB4ABA2A}" dt="2026-10-19T19:29:14.475" v="1263" actId="14100"/>
          <ac:cxnSpMkLst>
            <pc:docMk/>
            <pc:sldMk cId="1967704846" sldId="552"/>
            <ac:cxnSpMk id="5" creationId="{36AE1FD4-A8A4-8DC5-1D7D-84E3B97E3989}"/>
          </ac:cxnSpMkLst>
        </pc:cxnChg>
        <pc:cxnChg chg="add mod">
          <ac:chgData name="Rob Suggs" userId="2bb4e71def27aae0" providerId="LiveId" clId="{FA8263B0-A54B-464D-8B57-E62DDB4ABA2A}" dt="2026-10-19T19:31:36.393" v="1265" actId="14100"/>
          <ac:cxnSpMkLst>
            <pc:docMk/>
            <pc:sldMk cId="1967704846" sldId="552"/>
            <ac:cxnSpMk id="11" creationId="{23F559C2-8B2A-8F1B-E725-FF22806492DF}"/>
          </ac:cxnSpMkLst>
        </pc:cxnChg>
        <pc:cxnChg chg="add mod">
          <ac:chgData name="Rob Suggs" userId="2bb4e71def27aae0" providerId="LiveId" clId="{FA8263B0-A54B-464D-8B57-E62DDB4ABA2A}" dt="2026-10-19T19:33:00.603" v="1270" actId="14100"/>
          <ac:cxnSpMkLst>
            <pc:docMk/>
            <pc:sldMk cId="1967704846" sldId="552"/>
            <ac:cxnSpMk id="14" creationId="{447C6130-5964-582D-9A91-7ECBC6EB42EE}"/>
          </ac:cxnSpMkLst>
        </pc:cxnChg>
      </pc:sldChg>
      <pc:sldChg chg="addSp delSp modSp new mod modClrScheme chgLayout">
        <pc:chgData name="Rob Suggs" userId="2bb4e71def27aae0" providerId="LiveId" clId="{FA8263B0-A54B-464D-8B57-E62DDB4ABA2A}" dt="2026-10-19T19:39:28.718" v="1385" actId="207"/>
        <pc:sldMkLst>
          <pc:docMk/>
          <pc:sldMk cId="3351846447" sldId="553"/>
        </pc:sldMkLst>
        <pc:spChg chg="add mod">
          <ac:chgData name="Rob Suggs" userId="2bb4e71def27aae0" providerId="LiveId" clId="{FA8263B0-A54B-464D-8B57-E62DDB4ABA2A}" dt="2026-10-19T19:36:33.984" v="1359" actId="208"/>
          <ac:spMkLst>
            <pc:docMk/>
            <pc:sldMk cId="3351846447" sldId="553"/>
            <ac:spMk id="2" creationId="{F75F92B7-E842-D209-283D-65A08CF91EF8}"/>
          </ac:spMkLst>
        </pc:spChg>
        <pc:spChg chg="add mod">
          <ac:chgData name="Rob Suggs" userId="2bb4e71def27aae0" providerId="LiveId" clId="{FA8263B0-A54B-464D-8B57-E62DDB4ABA2A}" dt="2026-10-19T19:36:57.578" v="1361" actId="1076"/>
          <ac:spMkLst>
            <pc:docMk/>
            <pc:sldMk cId="3351846447" sldId="553"/>
            <ac:spMk id="4" creationId="{B683F7D5-655F-6EA1-D63E-1016DAC31410}"/>
          </ac:spMkLst>
        </pc:spChg>
        <pc:spChg chg="add mod">
          <ac:chgData name="Rob Suggs" userId="2bb4e71def27aae0" providerId="LiveId" clId="{FA8263B0-A54B-464D-8B57-E62DDB4ABA2A}" dt="2026-10-19T19:39:28.718" v="1385" actId="207"/>
          <ac:spMkLst>
            <pc:docMk/>
            <pc:sldMk cId="3351846447" sldId="553"/>
            <ac:spMk id="6" creationId="{B96F29F3-8CEF-7AED-BB22-C059108D2086}"/>
          </ac:spMkLst>
        </pc:spChg>
        <pc:picChg chg="add mod">
          <ac:chgData name="Rob Suggs" userId="2bb4e71def27aae0" providerId="LiveId" clId="{FA8263B0-A54B-464D-8B57-E62DDB4ABA2A}" dt="2026-10-17T02:40:18.883" v="685" actId="1076"/>
          <ac:picMkLst>
            <pc:docMk/>
            <pc:sldMk cId="3351846447" sldId="553"/>
            <ac:picMk id="5" creationId="{0407EBE2-7590-C9C3-FB36-4A4BFA33F2F6}"/>
          </ac:picMkLst>
        </pc:picChg>
        <pc:picChg chg="add mod">
          <ac:chgData name="Rob Suggs" userId="2bb4e71def27aae0" providerId="LiveId" clId="{FA8263B0-A54B-464D-8B57-E62DDB4ABA2A}" dt="2026-10-17T02:40:29.308" v="688" actId="1076"/>
          <ac:picMkLst>
            <pc:docMk/>
            <pc:sldMk cId="3351846447" sldId="553"/>
            <ac:picMk id="7" creationId="{CFAD9442-67B3-5A99-E380-CFE33CBDFE41}"/>
          </ac:picMkLst>
        </pc:picChg>
      </pc:sldChg>
      <pc:sldChg chg="delSp modSp new mod">
        <pc:chgData name="Rob Suggs" userId="2bb4e71def27aae0" providerId="LiveId" clId="{FA8263B0-A54B-464D-8B57-E62DDB4ABA2A}" dt="2026-10-19T21:36:47.202" v="1730" actId="478"/>
        <pc:sldMkLst>
          <pc:docMk/>
          <pc:sldMk cId="1986914514" sldId="554"/>
        </pc:sldMkLst>
        <pc:spChg chg="mod">
          <ac:chgData name="Rob Suggs" userId="2bb4e71def27aae0" providerId="LiveId" clId="{FA8263B0-A54B-464D-8B57-E62DDB4ABA2A}" dt="2026-10-19T21:36:44.104" v="1729" actId="207"/>
          <ac:spMkLst>
            <pc:docMk/>
            <pc:sldMk cId="1986914514" sldId="554"/>
            <ac:spMk id="2" creationId="{95042924-8A21-7406-2775-A7EFC820C6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hamsci-meteors@scranton.edu" TargetMode="External"/><Relationship Id="rId2" Type="http://schemas.openxmlformats.org/officeDocument/2006/relationships/hyperlink" Target="https://claude.ai/artifact/8PmxugTkZiW8fXZVz3g8aT?sk=QtqYU9mJzvyCjPG7gMoPDw#54ec8c09-d327" TargetMode="Externa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Oct 21,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Capstone Projects Status – Nathaniel Frissell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MSQP data analysis process – Rob Suggs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Wavelength dependence of </a:t>
            </a:r>
            <a:r>
              <a:rPr lang="en-US" sz="2000">
                <a:solidFill>
                  <a:schemeClr val="bg1"/>
                </a:solidFill>
              </a:rPr>
              <a:t>scattering efficiency </a:t>
            </a:r>
            <a:r>
              <a:rPr lang="en-US" sz="2000" dirty="0">
                <a:solidFill>
                  <a:schemeClr val="bg1"/>
                </a:solidFill>
              </a:rPr>
              <a:t>– Rob Suggs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Status of CW beacon testing – Jay Wilson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MIT meteor radar – Ryan Volz/MITLL/Haystack - 21 Oct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1800" dirty="0">
                <a:solidFill>
                  <a:schemeClr val="bg1"/>
                </a:solidFill>
              </a:rPr>
              <a:t>Scattering geometry – Suggs – Nov 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Sporadic modeling/Meteoroid Engineering Model – Cooke/MEO – Nov 18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CMOR radar – Brown/UWO – Dec 1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Shower modeling – Cooke/MEO – Dec 16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PHARLAP/</a:t>
            </a:r>
            <a:r>
              <a:rPr lang="en-US" sz="1800" dirty="0" err="1">
                <a:solidFill>
                  <a:schemeClr val="bg1"/>
                </a:solidFill>
              </a:rPr>
              <a:t>PyLAP</a:t>
            </a:r>
            <a:r>
              <a:rPr lang="en-US" sz="1800" dirty="0">
                <a:solidFill>
                  <a:schemeClr val="bg1"/>
                </a:solidFill>
              </a:rPr>
              <a:t> capabilities – Hozumi – Jan 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Suggestions for future topics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C48A-02EC-F417-DA44-6E19BA98217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2856600"/>
            <a:ext cx="10972320" cy="1144800"/>
          </a:xfrm>
        </p:spPr>
        <p:txBody>
          <a:bodyPr/>
          <a:lstStyle/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Michael Hauan has made great progress on Sigmond mods for meteor scatter measurements by PSWS</a:t>
            </a:r>
          </a:p>
          <a:p>
            <a:pPr marL="108000" indent="0">
              <a:buNone/>
            </a:pPr>
            <a:r>
              <a:rPr lang="en-US" sz="24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https://claude.ai/artifact/8PmxugTkZiW8fXZVz3g8aT?sk=QtqYU9mJzvyCjPG7gMoPDw#54ec8c09-d327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endParaRPr lang="en-US" sz="3200" dirty="0">
              <a:solidFill>
                <a:srgbClr val="00B0F0"/>
              </a:solidFill>
            </a:endParaRPr>
          </a:p>
          <a:p>
            <a:pPr marL="3618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Please review and send comments to the meteor scatter email </a:t>
            </a:r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hamsci-meteors@scranton.edu</a:t>
            </a:r>
            <a:endParaRPr lang="en-US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Tom McMahan has made progress with the specular ellipsoid tool</a:t>
            </a:r>
          </a:p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We plan to start posting these slide decks to our </a:t>
            </a:r>
            <a:r>
              <a:rPr lang="en-US" sz="3200" dirty="0" err="1">
                <a:solidFill>
                  <a:schemeClr val="bg1"/>
                </a:solidFill>
              </a:rPr>
              <a:t>Sharepoint</a:t>
            </a:r>
            <a:r>
              <a:rPr lang="en-US" sz="3200" dirty="0">
                <a:solidFill>
                  <a:schemeClr val="bg1"/>
                </a:solidFill>
              </a:rPr>
              <a:t> when it is available</a:t>
            </a: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155679"/>
              </p:ext>
            </p:extLst>
          </p:nvPr>
        </p:nvGraphicFramePr>
        <p:xfrm>
          <a:off x="752761" y="744728"/>
          <a:ext cx="9873488" cy="611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42523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Make GitHub doc repository private – remove copyrighted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McKinley removed – migrate all to </a:t>
                      </a:r>
                      <a:r>
                        <a:rPr lang="en-US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Sharepoint</a:t>
                      </a:r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? Moved to action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10/14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Report on testing of SIGMOND Meteor Scatter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10/14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Contact Scranton Tech Support regarding </a:t>
                      </a:r>
                      <a:r>
                        <a:rPr lang="en-US" sz="1200" dirty="0" err="1"/>
                        <a:t>Sharepoint</a:t>
                      </a:r>
                      <a:r>
                        <a:rPr lang="en-US" sz="1200" dirty="0"/>
                        <a:t>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Emailed 10/25, waiting to hear. #1160387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06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63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3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17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5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24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65E3-E399-67EF-B6C9-17D5CE42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D3E0-1F39-C8DC-3383-45C7EECD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Capstone project status</a:t>
            </a:r>
          </a:p>
        </p:txBody>
      </p:sp>
    </p:spTree>
    <p:extLst>
      <p:ext uri="{BB962C8B-B14F-4D97-AF65-F5344CB8AC3E}">
        <p14:creationId xmlns:p14="http://schemas.microsoft.com/office/powerpoint/2010/main" val="305989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2B81-FE5F-D0A5-4CD9-479CD1E1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0763-7B1F-73FE-180E-CFCC3DB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Nascent MSQP data analysis process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A8373-FE35-C0AF-CF69-1095F493AC0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45592" y="2052576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Python script to read WAV and plot signal amplitude vs time was used last year</a:t>
            </a:r>
          </a:p>
          <a:p>
            <a:pPr marL="10800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Added capability to read WAV metadata (</a:t>
            </a:r>
            <a:r>
              <a:rPr lang="en-US" sz="2400" dirty="0" err="1">
                <a:solidFill>
                  <a:schemeClr val="bg1"/>
                </a:solidFill>
              </a:rPr>
              <a:t>tag:comment</a:t>
            </a:r>
            <a:r>
              <a:rPr lang="en-US" sz="2400" dirty="0">
                <a:solidFill>
                  <a:schemeClr val="bg1"/>
                </a:solidFill>
              </a:rPr>
              <a:t>) consisting of frequency, callsign, grid square and to compute range and heading from TX and RX grids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Found that metadata does not always reflect what WSJT decodes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Main problem is in the non-CQ messages but others as well</a:t>
            </a:r>
          </a:p>
          <a:p>
            <a:pPr marL="10800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Plan B is to batch decode WAV files with WSJT-X and extract data from ALL.TXT file, when it wasn’t provided, then match the times – see next slide</a:t>
            </a:r>
          </a:p>
          <a:p>
            <a:pPr marL="10800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Will still use Python script to generate plots for quick review and counting of </a:t>
            </a:r>
            <a:r>
              <a:rPr lang="en-US" sz="2400" dirty="0" err="1">
                <a:solidFill>
                  <a:schemeClr val="bg1"/>
                </a:solidFill>
              </a:rPr>
              <a:t>underdense</a:t>
            </a:r>
            <a:r>
              <a:rPr lang="en-US" sz="2400" dirty="0">
                <a:solidFill>
                  <a:schemeClr val="bg1"/>
                </a:solidFill>
              </a:rPr>
              <a:t> meteors</a:t>
            </a:r>
          </a:p>
          <a:p>
            <a:pPr marL="10800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May add shower radiant </a:t>
            </a:r>
            <a:r>
              <a:rPr lang="en-US" sz="2400" dirty="0" err="1">
                <a:solidFill>
                  <a:schemeClr val="bg1"/>
                </a:solidFill>
              </a:rPr>
              <a:t>az</a:t>
            </a:r>
            <a:r>
              <a:rPr lang="en-US" sz="2400" dirty="0">
                <a:solidFill>
                  <a:schemeClr val="bg1"/>
                </a:solidFill>
              </a:rPr>
              <a:t> and el at time of decode</a:t>
            </a:r>
          </a:p>
        </p:txBody>
      </p:sp>
    </p:spTree>
    <p:extLst>
      <p:ext uri="{BB962C8B-B14F-4D97-AF65-F5344CB8AC3E}">
        <p14:creationId xmlns:p14="http://schemas.microsoft.com/office/powerpoint/2010/main" val="373623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E64789-BA0F-40DA-E665-6560BAB4B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971207"/>
            <a:ext cx="10307488" cy="4915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B497B4-D7FE-4149-3B8E-E10FEE4ECED1}"/>
              </a:ext>
            </a:extLst>
          </p:cNvPr>
          <p:cNvSpPr txBox="1"/>
          <p:nvPr/>
        </p:nvSpPr>
        <p:spPr>
          <a:xfrm>
            <a:off x="1166101" y="222459"/>
            <a:ext cx="3989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Suggs’ Python script</a:t>
            </a:r>
          </a:p>
          <a:p>
            <a:r>
              <a:rPr lang="en-US" dirty="0">
                <a:solidFill>
                  <a:schemeClr val="bg1"/>
                </a:solidFill>
              </a:rPr>
              <a:t>using WAV Tag. Agrees with Audacity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2B046-6C3C-2072-692E-81A8E7EA8CD3}"/>
              </a:ext>
            </a:extLst>
          </p:cNvPr>
          <p:cNvSpPr txBox="1"/>
          <p:nvPr/>
        </p:nvSpPr>
        <p:spPr>
          <a:xfrm>
            <a:off x="6448285" y="397042"/>
            <a:ext cx="5442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WSJT-X all.txt file after re-decoding WAV files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820766-298C-66A7-AA07-0788F2ED044E}"/>
              </a:ext>
            </a:extLst>
          </p:cNvPr>
          <p:cNvCxnSpPr/>
          <p:nvPr/>
        </p:nvCxnSpPr>
        <p:spPr>
          <a:xfrm flipH="1">
            <a:off x="6565392" y="1472184"/>
            <a:ext cx="402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AE1FD4-A8A4-8DC5-1D7D-84E3B97E3989}"/>
              </a:ext>
            </a:extLst>
          </p:cNvPr>
          <p:cNvCxnSpPr>
            <a:cxnSpLocks/>
          </p:cNvCxnSpPr>
          <p:nvPr/>
        </p:nvCxnSpPr>
        <p:spPr>
          <a:xfrm flipH="1">
            <a:off x="6565392" y="1691640"/>
            <a:ext cx="402336" cy="310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F559C2-8B2A-8F1B-E725-FF22806492DF}"/>
              </a:ext>
            </a:extLst>
          </p:cNvPr>
          <p:cNvCxnSpPr>
            <a:cxnSpLocks/>
          </p:cNvCxnSpPr>
          <p:nvPr/>
        </p:nvCxnSpPr>
        <p:spPr>
          <a:xfrm flipH="1">
            <a:off x="6565392" y="2066544"/>
            <a:ext cx="402336" cy="155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7C6130-5964-582D-9A91-7ECBC6EB42EE}"/>
              </a:ext>
            </a:extLst>
          </p:cNvPr>
          <p:cNvCxnSpPr>
            <a:cxnSpLocks/>
          </p:cNvCxnSpPr>
          <p:nvPr/>
        </p:nvCxnSpPr>
        <p:spPr>
          <a:xfrm flipH="1">
            <a:off x="6448285" y="2999232"/>
            <a:ext cx="519443" cy="536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BD17F2-1198-9A4E-C93D-0A90F3F20CFE}"/>
              </a:ext>
            </a:extLst>
          </p:cNvPr>
          <p:cNvSpPr txBox="1"/>
          <p:nvPr/>
        </p:nvSpPr>
        <p:spPr>
          <a:xfrm>
            <a:off x="3986784" y="6203104"/>
            <a:ext cx="324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Can’t trust WAV </a:t>
            </a:r>
            <a:r>
              <a:rPr lang="en-US" dirty="0" err="1">
                <a:solidFill>
                  <a:schemeClr val="bg1"/>
                </a:solidFill>
              </a:rPr>
              <a:t>Tag:comment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0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7EBE2-7590-C9C3-FB36-4A4BFA33F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09" y="349144"/>
            <a:ext cx="9142857" cy="36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D9442-67B3-5A99-E380-CFE33CBDF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598" y="3015342"/>
            <a:ext cx="9142857" cy="365714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75F92B7-E842-D209-283D-65A08CF91EF8}"/>
              </a:ext>
            </a:extLst>
          </p:cNvPr>
          <p:cNvSpPr/>
          <p:nvPr/>
        </p:nvSpPr>
        <p:spPr>
          <a:xfrm>
            <a:off x="3374136" y="621792"/>
            <a:ext cx="1709928" cy="4206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83F7D5-655F-6EA1-D63E-1016DAC31410}"/>
              </a:ext>
            </a:extLst>
          </p:cNvPr>
          <p:cNvSpPr/>
          <p:nvPr/>
        </p:nvSpPr>
        <p:spPr>
          <a:xfrm>
            <a:off x="4798273" y="3287990"/>
            <a:ext cx="1709928" cy="4206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F29F3-8CEF-7AED-BB22-C059108D2086}"/>
              </a:ext>
            </a:extLst>
          </p:cNvPr>
          <p:cNvSpPr txBox="1"/>
          <p:nvPr/>
        </p:nvSpPr>
        <p:spPr>
          <a:xfrm>
            <a:off x="6918534" y="3523948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Actually WS5W in EM13</a:t>
            </a:r>
          </a:p>
        </p:txBody>
      </p:sp>
    </p:spTree>
    <p:extLst>
      <p:ext uri="{BB962C8B-B14F-4D97-AF65-F5344CB8AC3E}">
        <p14:creationId xmlns:p14="http://schemas.microsoft.com/office/powerpoint/2010/main" val="335184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2"/>
          <p:cNvSpPr/>
          <p:nvPr/>
        </p:nvSpPr>
        <p:spPr>
          <a:xfrm>
            <a:off x="713352" y="446400"/>
            <a:ext cx="838152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300" spc="-1" dirty="0">
                <a:solidFill>
                  <a:srgbClr val="FFFFFF"/>
                </a:solidFill>
                <a:latin typeface="Calibri Light"/>
              </a:rPr>
              <a:t>Scattered signal power is a strong function of wavelength</a:t>
            </a:r>
            <a:endParaRPr lang="en-US" sz="3300" spc="-1" dirty="0">
              <a:latin typeface="Arial"/>
            </a:endParaRPr>
          </a:p>
        </p:txBody>
      </p:sp>
      <p:pic>
        <p:nvPicPr>
          <p:cNvPr id="233" name="Picture 4"/>
          <p:cNvPicPr/>
          <p:nvPr/>
        </p:nvPicPr>
        <p:blipFill>
          <a:blip r:embed="rId2"/>
          <a:stretch/>
        </p:blipFill>
        <p:spPr>
          <a:xfrm>
            <a:off x="1828920" y="2895480"/>
            <a:ext cx="8534160" cy="1620360"/>
          </a:xfrm>
          <a:prstGeom prst="rect">
            <a:avLst/>
          </a:prstGeom>
          <a:ln w="0">
            <a:noFill/>
          </a:ln>
        </p:spPr>
      </p:pic>
      <p:sp>
        <p:nvSpPr>
          <p:cNvPr id="234" name="Text Box 5"/>
          <p:cNvSpPr/>
          <p:nvPr/>
        </p:nvSpPr>
        <p:spPr>
          <a:xfrm>
            <a:off x="1981200" y="1828800"/>
            <a:ext cx="792432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pc="-1">
                <a:solidFill>
                  <a:srgbClr val="FFFFFF"/>
                </a:solidFill>
                <a:latin typeface="Arial"/>
              </a:rPr>
              <a:t>Important point is that the signal strength goes as the cube of the wavelength, </a:t>
            </a:r>
            <a:r>
              <a:rPr lang="en-US" b="1" spc="-1">
                <a:solidFill>
                  <a:srgbClr val="FFFFFF"/>
                </a:solidFill>
                <a:latin typeface="Symbol"/>
              </a:rPr>
              <a:t>l</a:t>
            </a:r>
            <a:r>
              <a:rPr lang="en-US" b="1" spc="-1">
                <a:solidFill>
                  <a:srgbClr val="FFFFFF"/>
                </a:solidFill>
                <a:latin typeface="Arial"/>
              </a:rPr>
              <a:t>, and the square of the electron line density, q</a:t>
            </a:r>
            <a:endParaRPr lang="en-US" spc="-1">
              <a:latin typeface="Arial"/>
            </a:endParaRPr>
          </a:p>
        </p:txBody>
      </p:sp>
      <p:sp>
        <p:nvSpPr>
          <p:cNvPr id="235" name="Text Box 6"/>
          <p:cNvSpPr/>
          <p:nvPr/>
        </p:nvSpPr>
        <p:spPr>
          <a:xfrm>
            <a:off x="2205120" y="4724281"/>
            <a:ext cx="783738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pc="-1">
                <a:solidFill>
                  <a:srgbClr val="FFFFFF"/>
                </a:solidFill>
                <a:latin typeface="Arial"/>
              </a:rPr>
              <a:t>You want to use the longest wavelength (lowest frequency) possible.  </a:t>
            </a:r>
            <a:endParaRPr lang="en-US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b="1" spc="-1">
                <a:solidFill>
                  <a:srgbClr val="FFFFFF"/>
                </a:solidFill>
                <a:latin typeface="Arial"/>
              </a:rPr>
              <a:t>If you get into HF bands, Ionospheric effects can dominate so lower </a:t>
            </a:r>
            <a:endParaRPr lang="en-US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b="1" spc="-1">
                <a:solidFill>
                  <a:srgbClr val="FFFFFF"/>
                </a:solidFill>
                <a:latin typeface="Arial"/>
              </a:rPr>
              <a:t>VHF (40 – 100 MHz) is best.   From McKinley, 1961 eq. 9-3.</a:t>
            </a:r>
          </a:p>
          <a:p>
            <a:pPr>
              <a:lnSpc>
                <a:spcPct val="100000"/>
              </a:lnSpc>
              <a:buNone/>
            </a:pPr>
            <a:r>
              <a:rPr lang="en-US" b="1" spc="-1">
                <a:solidFill>
                  <a:srgbClr val="FFFFFF"/>
                </a:solidFill>
                <a:latin typeface="Arial"/>
              </a:rPr>
              <a:t>So 10m should be preferable to 6m.</a:t>
            </a:r>
            <a:endParaRPr lang="en-US" spc="-1">
              <a:latin typeface="Arial"/>
            </a:endParaRPr>
          </a:p>
        </p:txBody>
      </p:sp>
      <p:sp>
        <p:nvSpPr>
          <p:cNvPr id="236" name="Straight Arrow Connector 7"/>
          <p:cNvSpPr/>
          <p:nvPr/>
        </p:nvSpPr>
        <p:spPr>
          <a:xfrm>
            <a:off x="3200520" y="2470320"/>
            <a:ext cx="685440" cy="577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4472C4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Straight Arrow Connector 8"/>
          <p:cNvSpPr/>
          <p:nvPr/>
        </p:nvSpPr>
        <p:spPr>
          <a:xfrm flipH="1">
            <a:off x="6474000" y="2395440"/>
            <a:ext cx="1294920" cy="73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rgbClr val="4472C4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5605536-028A-4489-A455-8B4DAA97827B}" type="slidenum">
              <a:rPr lang="en-US" sz="900" spc="-1">
                <a:solidFill>
                  <a:srgbClr val="FFFFFF"/>
                </a:solidFill>
                <a:latin typeface="Times New Roman"/>
              </a:rPr>
              <a:t>9</a:t>
            </a:fld>
            <a:endParaRPr lang="en-US" sz="900" spc="-1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E1E27E3E-74F3-4E0D-87C7-626E44F398FC}" type="slidenum">
              <a:rPr lang="en-US" sz="900" spc="-1">
                <a:solidFill>
                  <a:srgbClr val="FFFFFF"/>
                </a:solidFill>
                <a:latin typeface="Times New Roman"/>
              </a:rPr>
              <a:t>10</a:t>
            </a:fld>
            <a:endParaRPr lang="en-US" sz="900" spc="-1">
              <a:latin typeface="Times New Roman"/>
            </a:endParaRPr>
          </a:p>
        </p:txBody>
      </p:sp>
      <p:sp>
        <p:nvSpPr>
          <p:cNvPr id="261" name="Rectangle 2"/>
          <p:cNvSpPr/>
          <p:nvPr/>
        </p:nvSpPr>
        <p:spPr>
          <a:xfrm>
            <a:off x="3200520" y="351000"/>
            <a:ext cx="579096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300" spc="-1">
                <a:solidFill>
                  <a:srgbClr val="FFFFFF"/>
                </a:solidFill>
                <a:latin typeface="Calibri Light"/>
              </a:rPr>
              <a:t>Forward Scatter Geometry</a:t>
            </a:r>
            <a:endParaRPr lang="en-US" sz="3300" spc="-1">
              <a:latin typeface="Arial"/>
            </a:endParaRPr>
          </a:p>
        </p:txBody>
      </p:sp>
      <p:pic>
        <p:nvPicPr>
          <p:cNvPr id="262" name="Picture 3"/>
          <p:cNvPicPr/>
          <p:nvPr/>
        </p:nvPicPr>
        <p:blipFill>
          <a:blip r:embed="rId2"/>
          <a:stretch/>
        </p:blipFill>
        <p:spPr>
          <a:xfrm>
            <a:off x="1625859" y="1708030"/>
            <a:ext cx="8940282" cy="4103450"/>
          </a:xfrm>
          <a:prstGeom prst="rect">
            <a:avLst/>
          </a:prstGeom>
          <a:ln w="0">
            <a:noFill/>
          </a:ln>
        </p:spPr>
      </p:pic>
      <p:sp>
        <p:nvSpPr>
          <p:cNvPr id="263" name="Text Box 4"/>
          <p:cNvSpPr/>
          <p:nvPr/>
        </p:nvSpPr>
        <p:spPr>
          <a:xfrm>
            <a:off x="6316680" y="6099840"/>
            <a:ext cx="37364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spc="-1">
                <a:solidFill>
                  <a:srgbClr val="FFFFFF"/>
                </a:solidFill>
                <a:latin typeface="Calibri"/>
              </a:rPr>
              <a:t>From “Meteor Science and Engineering”, D.W.R. McKinley</a:t>
            </a:r>
            <a:endParaRPr lang="en-US" sz="1200" spc="-1">
              <a:latin typeface="Arial"/>
            </a:endParaRPr>
          </a:p>
        </p:txBody>
      </p:sp>
      <p:sp>
        <p:nvSpPr>
          <p:cNvPr id="264" name="Oval 2"/>
          <p:cNvSpPr/>
          <p:nvPr/>
        </p:nvSpPr>
        <p:spPr>
          <a:xfrm>
            <a:off x="1892280" y="2990880"/>
            <a:ext cx="8007120" cy="3246120"/>
          </a:xfrm>
          <a:prstGeom prst="ellipse">
            <a:avLst/>
          </a:prstGeom>
          <a:noFill/>
          <a:ln w="12600">
            <a:solidFill>
              <a:srgbClr val="70AD4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109A-C280-D795-40E7-F78B60B0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Signal duration is proportional to square of the wavelength</a:t>
            </a:r>
          </a:p>
        </p:txBody>
      </p:sp>
      <p:pic>
        <p:nvPicPr>
          <p:cNvPr id="5" name="Picture 4" descr="A paper with text and equations&#10;&#10;AI-generated content may be incorrect.">
            <a:extLst>
              <a:ext uri="{FF2B5EF4-FFF2-40B4-BE49-F238E27FC236}">
                <a16:creationId xmlns:a16="http://schemas.microsoft.com/office/drawing/2014/main" id="{13F5777E-7861-3FD1-72FA-70E4F96A13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430" t="47859" r="45914" b="33787"/>
          <a:stretch>
            <a:fillRect/>
          </a:stretch>
        </p:blipFill>
        <p:spPr>
          <a:xfrm>
            <a:off x="2741501" y="2296819"/>
            <a:ext cx="6068205" cy="206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F436B1-41B3-C451-644B-505E981A3D60}"/>
              </a:ext>
            </a:extLst>
          </p:cNvPr>
          <p:cNvSpPr txBox="1"/>
          <p:nvPr/>
        </p:nvSpPr>
        <p:spPr>
          <a:xfrm>
            <a:off x="3518812" y="4924722"/>
            <a:ext cx="4877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 is the electron diffusion coefficient in m</a:t>
            </a:r>
            <a:r>
              <a:rPr lang="en-US" baseline="30000">
                <a:solidFill>
                  <a:schemeClr val="bg1"/>
                </a:solidFill>
              </a:rPr>
              <a:t>2</a:t>
            </a:r>
            <a:r>
              <a:rPr lang="en-US">
                <a:solidFill>
                  <a:schemeClr val="bg1"/>
                </a:solidFill>
              </a:rPr>
              <a:t>/sec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3E26FD1-49B8-12A3-1FEB-022AAC69ECED}"/>
              </a:ext>
            </a:extLst>
          </p:cNvPr>
          <p:cNvSpPr/>
          <p:nvPr/>
        </p:nvSpPr>
        <p:spPr>
          <a:xfrm>
            <a:off x="6316680" y="6099840"/>
            <a:ext cx="37364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spc="-1">
                <a:solidFill>
                  <a:srgbClr val="FFFFFF"/>
                </a:solidFill>
                <a:latin typeface="Calibri"/>
              </a:rPr>
              <a:t>From “Meteor Science and Engineering”, D.W.R. McKinley</a:t>
            </a:r>
            <a:endParaRPr lang="en-US" sz="1200" spc="-1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803BB-D43F-6383-EF1F-3A4E1399841A}"/>
              </a:ext>
            </a:extLst>
          </p:cNvPr>
          <p:cNvSpPr txBox="1"/>
          <p:nvPr/>
        </p:nvSpPr>
        <p:spPr>
          <a:xfrm>
            <a:off x="8396750" y="1447507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does D depend on?</a:t>
            </a:r>
          </a:p>
        </p:txBody>
      </p:sp>
    </p:spTree>
    <p:extLst>
      <p:ext uri="{BB962C8B-B14F-4D97-AF65-F5344CB8AC3E}">
        <p14:creationId xmlns:p14="http://schemas.microsoft.com/office/powerpoint/2010/main" val="59792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 1"/>
          <p:cNvSpPr/>
          <p:nvPr/>
        </p:nvSpPr>
        <p:spPr>
          <a:xfrm>
            <a:off x="391348" y="459906"/>
            <a:ext cx="10938388" cy="14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300" b="1" spc="-1">
                <a:solidFill>
                  <a:srgbClr val="FFFFFF"/>
                </a:solidFill>
                <a:latin typeface="Calibri Light"/>
              </a:rPr>
              <a:t>Dependence of strength and duration for various amateur MSK144 frequencies</a:t>
            </a:r>
            <a:endParaRPr lang="en-US" sz="3300" b="1" spc="-1">
              <a:latin typeface="Arial"/>
            </a:endParaRPr>
          </a:p>
        </p:txBody>
      </p:sp>
      <p:sp>
        <p:nvSpPr>
          <p:cNvPr id="241" name="Content Placeholder 4"/>
          <p:cNvSpPr/>
          <p:nvPr/>
        </p:nvSpPr>
        <p:spPr>
          <a:xfrm>
            <a:off x="594851" y="3881284"/>
            <a:ext cx="11597149" cy="449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6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</a:pPr>
            <a:r>
              <a:rPr lang="en-US" sz="3200" spc="-1">
                <a:solidFill>
                  <a:srgbClr val="FFFFFF"/>
                </a:solidFill>
                <a:latin typeface="Calibri"/>
              </a:rPr>
              <a:t>Scattered power is proportional to the wavelength</a:t>
            </a:r>
            <a:r>
              <a:rPr lang="en-US" sz="3200" spc="-1" baseline="30000">
                <a:solidFill>
                  <a:srgbClr val="FFFFFF"/>
                </a:solidFill>
                <a:latin typeface="Calibri"/>
              </a:rPr>
              <a:t>3 </a:t>
            </a:r>
            <a:r>
              <a:rPr lang="en-US" sz="3200" spc="-1">
                <a:solidFill>
                  <a:srgbClr val="FFFFFF"/>
                </a:solidFill>
                <a:latin typeface="Calibri"/>
              </a:rPr>
              <a:t>or 1/frequency</a:t>
            </a:r>
            <a:r>
              <a:rPr lang="en-US" sz="3200" spc="-1" baseline="30000">
                <a:solidFill>
                  <a:srgbClr val="FFFFFF"/>
                </a:solidFill>
                <a:latin typeface="Calibri"/>
              </a:rPr>
              <a:t>3  </a:t>
            </a:r>
          </a:p>
          <a:p>
            <a:pPr marL="36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</a:pPr>
            <a:endParaRPr lang="en-US" sz="3200" spc="-1" baseline="30000">
              <a:solidFill>
                <a:srgbClr val="FFFFFF"/>
              </a:solidFill>
              <a:latin typeface="Calibri"/>
            </a:endParaRPr>
          </a:p>
          <a:p>
            <a:pPr marL="36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</a:pPr>
            <a:r>
              <a:rPr lang="en-US" sz="3200" spc="-1">
                <a:solidFill>
                  <a:srgbClr val="FFFFFF"/>
                </a:solidFill>
                <a:latin typeface="Calibri"/>
              </a:rPr>
              <a:t>Signal duration is proportional to wavelength</a:t>
            </a:r>
            <a:r>
              <a:rPr lang="en-US" sz="3200" spc="-1" baseline="30000">
                <a:solidFill>
                  <a:srgbClr val="FFFFFF"/>
                </a:solidFill>
                <a:latin typeface="Calibri"/>
              </a:rPr>
              <a:t>2</a:t>
            </a:r>
            <a:endParaRPr lang="en-US" sz="3200" spc="-1"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CE2CFB70-C145-49D6-9292-D07D742E8A9F}" type="slidenum">
              <a:rPr lang="en-US" sz="900" spc="-1">
                <a:solidFill>
                  <a:srgbClr val="FFFFFF"/>
                </a:solidFill>
                <a:latin typeface="Times New Roman"/>
              </a:rPr>
              <a:t>12</a:t>
            </a:fld>
            <a:endParaRPr lang="en-US" sz="900" spc="-1">
              <a:latin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438EFD-E7D3-5898-4CF7-1A65608C4B7C}"/>
              </a:ext>
            </a:extLst>
          </p:cNvPr>
          <p:cNvGraphicFramePr>
            <a:graphicFrameLocks noGrp="1"/>
          </p:cNvGraphicFramePr>
          <p:nvPr/>
        </p:nvGraphicFramePr>
        <p:xfrm>
          <a:off x="3354193" y="1941783"/>
          <a:ext cx="5012698" cy="1620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6796">
                  <a:extLst>
                    <a:ext uri="{9D8B030D-6E8A-4147-A177-3AD203B41FA5}">
                      <a16:colId xmlns:a16="http://schemas.microsoft.com/office/drawing/2014/main" val="660010413"/>
                    </a:ext>
                  </a:extLst>
                </a:gridCol>
                <a:gridCol w="1242894">
                  <a:extLst>
                    <a:ext uri="{9D8B030D-6E8A-4147-A177-3AD203B41FA5}">
                      <a16:colId xmlns:a16="http://schemas.microsoft.com/office/drawing/2014/main" val="3402372327"/>
                    </a:ext>
                  </a:extLst>
                </a:gridCol>
                <a:gridCol w="1078393">
                  <a:extLst>
                    <a:ext uri="{9D8B030D-6E8A-4147-A177-3AD203B41FA5}">
                      <a16:colId xmlns:a16="http://schemas.microsoft.com/office/drawing/2014/main" val="2801422209"/>
                    </a:ext>
                  </a:extLst>
                </a:gridCol>
                <a:gridCol w="1224615">
                  <a:extLst>
                    <a:ext uri="{9D8B030D-6E8A-4147-A177-3AD203B41FA5}">
                      <a16:colId xmlns:a16="http://schemas.microsoft.com/office/drawing/2014/main" val="3426536651"/>
                    </a:ext>
                  </a:extLst>
                </a:gridCol>
              </a:tblGrid>
              <a:tr h="40501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Frequency MHz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Rel strength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Rel Str dB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Rel duration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6743180"/>
                  </a:ext>
                </a:extLst>
              </a:tr>
              <a:tr h="405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144.15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0.04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-13.7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5081983"/>
                  </a:ext>
                </a:extLst>
              </a:tr>
              <a:tr h="405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50.26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8535486"/>
                  </a:ext>
                </a:extLst>
              </a:tr>
              <a:tr h="405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28.145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5.69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7.6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3.19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78890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 - CW Beacon Testing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2924-8A21-7406-2775-A7EFC820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Haystack meteor radar - Volz</a:t>
            </a:r>
          </a:p>
        </p:txBody>
      </p:sp>
    </p:spTree>
    <p:extLst>
      <p:ext uri="{BB962C8B-B14F-4D97-AF65-F5344CB8AC3E}">
        <p14:creationId xmlns:p14="http://schemas.microsoft.com/office/powerpoint/2010/main" val="1986914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6014</TotalTime>
  <Words>904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 Narrow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Oct 21, 2026</vt:lpstr>
      <vt:lpstr>PowerPoint Presentation</vt:lpstr>
      <vt:lpstr>Announcements</vt:lpstr>
      <vt:lpstr>Action Item Review</vt:lpstr>
      <vt:lpstr>Capstone project status</vt:lpstr>
      <vt:lpstr>Nascent MSQP data analysis process </vt:lpstr>
      <vt:lpstr>PowerPoint Presentation</vt:lpstr>
      <vt:lpstr>PowerPoint Presentation</vt:lpstr>
      <vt:lpstr>PowerPoint Presentation</vt:lpstr>
      <vt:lpstr>PowerPoint Presentation</vt:lpstr>
      <vt:lpstr>Signal duration is proportional to square of the wavelength</vt:lpstr>
      <vt:lpstr>PowerPoint Presentation</vt:lpstr>
      <vt:lpstr>Wilson - CW Beacon Testing</vt:lpstr>
      <vt:lpstr>Haystack meteor radar - Volz</vt:lpstr>
      <vt:lpstr>Backup</vt:lpstr>
      <vt:lpstr>Homework – Read/view the following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6</cp:revision>
  <cp:lastPrinted>2000-08-10T15:04:34Z</cp:lastPrinted>
  <dcterms:created xsi:type="dcterms:W3CDTF">1997-05-08T12:17:31Z</dcterms:created>
  <dcterms:modified xsi:type="dcterms:W3CDTF">2026-10-28T16:22:22Z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