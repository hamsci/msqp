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258" r:id="rId4"/>
    <p:sldId id="547" r:id="rId5"/>
    <p:sldId id="539" r:id="rId6"/>
    <p:sldId id="555" r:id="rId7"/>
    <p:sldId id="556" r:id="rId8"/>
    <p:sldId id="554" r:id="rId9"/>
    <p:sldId id="542" r:id="rId10"/>
    <p:sldId id="557" r:id="rId11"/>
    <p:sldId id="541" r:id="rId12"/>
    <p:sldId id="544" r:id="rId13"/>
    <p:sldId id="538" r:id="rId14"/>
    <p:sldId id="546" r:id="rId15"/>
    <p:sldId id="545" r:id="rId16"/>
  </p:sldIdLst>
  <p:sldSz cx="12192000" cy="6858000"/>
  <p:notesSz cx="69850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Suggs" userId="2bb4e71def27aae0" providerId="LiveId" clId="{FA8263B0-A54B-464D-8B57-E62DDB4ABA2A}"/>
    <pc:docChg chg="custSel delSld modSld">
      <pc:chgData name="Rob Suggs" userId="2bb4e71def27aae0" providerId="LiveId" clId="{FA8263B0-A54B-464D-8B57-E62DDB4ABA2A}" dt="2026-10-28T16:19:30.157" v="308" actId="478"/>
      <pc:docMkLst>
        <pc:docMk/>
      </pc:docMkLst>
      <pc:sldChg chg="modSp mod">
        <pc:chgData name="Rob Suggs" userId="2bb4e71def27aae0" providerId="LiveId" clId="{FA8263B0-A54B-464D-8B57-E62DDB4ABA2A}" dt="2026-10-28T15:17:10.865" v="4" actId="20577"/>
        <pc:sldMkLst>
          <pc:docMk/>
          <pc:sldMk cId="0" sldId="256"/>
        </pc:sldMkLst>
        <pc:spChg chg="mod">
          <ac:chgData name="Rob Suggs" userId="2bb4e71def27aae0" providerId="LiveId" clId="{FA8263B0-A54B-464D-8B57-E62DDB4ABA2A}" dt="2026-10-28T15:17:10.865" v="4" actId="20577"/>
          <ac:spMkLst>
            <pc:docMk/>
            <pc:sldMk cId="0" sldId="256"/>
            <ac:spMk id="89" creationId="{00000000-0000-0000-0000-000000000000}"/>
          </ac:spMkLst>
        </pc:spChg>
      </pc:sldChg>
      <pc:sldChg chg="modSp mod">
        <pc:chgData name="Rob Suggs" userId="2bb4e71def27aae0" providerId="LiveId" clId="{FA8263B0-A54B-464D-8B57-E62DDB4ABA2A}" dt="2026-10-28T15:17:25.047" v="5" actId="207"/>
        <pc:sldMkLst>
          <pc:docMk/>
          <pc:sldMk cId="0" sldId="258"/>
        </pc:sldMkLst>
        <pc:spChg chg="mod">
          <ac:chgData name="Rob Suggs" userId="2bb4e71def27aae0" providerId="LiveId" clId="{FA8263B0-A54B-464D-8B57-E62DDB4ABA2A}" dt="2026-10-28T15:17:25.047" v="5" actId="207"/>
          <ac:spMkLst>
            <pc:docMk/>
            <pc:sldMk cId="0" sldId="258"/>
            <ac:spMk id="3" creationId="{8779EF85-77AB-1B4A-46CE-8F0C5CFA57E5}"/>
          </ac:spMkLst>
        </pc:spChg>
      </pc:sldChg>
      <pc:sldChg chg="modSp mod">
        <pc:chgData name="Rob Suggs" userId="2bb4e71def27aae0" providerId="LiveId" clId="{FA8263B0-A54B-464D-8B57-E62DDB4ABA2A}" dt="2026-10-28T15:37:32.128" v="306" actId="20577"/>
        <pc:sldMkLst>
          <pc:docMk/>
          <pc:sldMk cId="1387322981" sldId="539"/>
        </pc:sldMkLst>
        <pc:graphicFrameChg chg="modGraphic">
          <ac:chgData name="Rob Suggs" userId="2bb4e71def27aae0" providerId="LiveId" clId="{FA8263B0-A54B-464D-8B57-E62DDB4ABA2A}" dt="2026-10-28T15:37:32.128" v="306" actId="20577"/>
          <ac:graphicFrameMkLst>
            <pc:docMk/>
            <pc:sldMk cId="1387322981" sldId="539"/>
            <ac:graphicFrameMk id="4" creationId="{50589728-40EA-90A9-C96B-56B0FDB03FC4}"/>
          </ac:graphicFrameMkLst>
        </pc:graphicFrameChg>
      </pc:sldChg>
      <pc:sldChg chg="delSp mod">
        <pc:chgData name="Rob Suggs" userId="2bb4e71def27aae0" providerId="LiveId" clId="{FA8263B0-A54B-464D-8B57-E62DDB4ABA2A}" dt="2026-10-28T16:19:30.157" v="308" actId="478"/>
        <pc:sldMkLst>
          <pc:docMk/>
          <pc:sldMk cId="2510175587" sldId="547"/>
        </pc:sldMkLst>
        <pc:spChg chg="del">
          <ac:chgData name="Rob Suggs" userId="2bb4e71def27aae0" providerId="LiveId" clId="{FA8263B0-A54B-464D-8B57-E62DDB4ABA2A}" dt="2026-10-28T16:19:30.157" v="308" actId="478"/>
          <ac:spMkLst>
            <pc:docMk/>
            <pc:sldMk cId="2510175587" sldId="547"/>
            <ac:spMk id="3" creationId="{D2E9C48A-02EC-F417-DA44-6E19BA98217D}"/>
          </ac:spMkLst>
        </pc:spChg>
      </pc:sldChg>
      <pc:sldChg chg="del">
        <pc:chgData name="Rob Suggs" userId="2bb4e71def27aae0" providerId="LiveId" clId="{FA8263B0-A54B-464D-8B57-E62DDB4ABA2A}" dt="2026-10-28T16:19:15.028" v="307" actId="47"/>
        <pc:sldMkLst>
          <pc:docMk/>
          <pc:sldMk cId="3748548517" sldId="5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B0E9CDED-5838-4A8F-93C1-2F375E7460F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1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4000" y="1122480"/>
            <a:ext cx="914352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5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E249459-242B-44A8-A357-F19B4F98C9DA}" type="datetime1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10/27/2026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963A8826-90A2-4B3A-8565-253E3B87A891}" type="slidenum">
              <a:rPr lang="en-US" sz="900" b="0" strike="noStrike" spc="-1">
                <a:solidFill>
                  <a:srgbClr val="8B8B8B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5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</a:pPr>
            <a:fld id="{0B461371-89F2-42DA-96D1-AF6A5097D3A1}" type="datetime1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10/27/2026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/>
          </p:nvPr>
        </p:nvSpPr>
        <p:spPr>
          <a:xfrm>
            <a:off x="4038720" y="6356520"/>
            <a:ext cx="41145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/>
          </p:nvPr>
        </p:nvSpPr>
        <p:spPr>
          <a:xfrm>
            <a:off x="8610720" y="6356520"/>
            <a:ext cx="27427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01571C37-CE1F-4E00-BCD7-676CDB0FFE6F}" type="slidenum">
              <a:rPr lang="en-US" sz="900" b="0" strike="noStrike" spc="-1">
                <a:solidFill>
                  <a:srgbClr val="FFFFFF"/>
                </a:solidFill>
                <a:latin typeface="Times New Roman"/>
              </a:rPr>
              <a:t>‹#›</a:t>
            </a:fld>
            <a:endParaRPr lang="en-US" sz="9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FFFFFF"/>
                </a:solidFill>
                <a:latin typeface="Times New Roman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FFFFFF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strike="noStrike" spc="-1">
                <a:solidFill>
                  <a:srgbClr val="FFFFFF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strike="noStrike" spc="-1">
                <a:solidFill>
                  <a:srgbClr val="FFFFFF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n4nt@outlook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ay.Weitzen@scranton.edu" TargetMode="External"/><Relationship Id="rId5" Type="http://schemas.openxmlformats.org/officeDocument/2006/relationships/hyperlink" Target="mailto:jay_weitzen@uml.edu" TargetMode="External"/><Relationship Id="rId4" Type="http://schemas.openxmlformats.org/officeDocument/2006/relationships/hyperlink" Target="mailto:robert.suggs@scranton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msci.org/sites/default/files/article/Workshop_2026/Meteor_Scatter_Science_Behind_the_Pings_HamSCI_conference_RevB.pdf" TargetMode="External"/><Relationship Id="rId2" Type="http://schemas.openxmlformats.org/officeDocument/2006/relationships/hyperlink" Target="https://github.com/HamSCI/MSQP/blob/main/Weitzen_and_Ralston_Meteor_scatter_an_overview.pdf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aquarid.physics.uwo.ca/research/radar/cmor_intro.html" TargetMode="External"/><Relationship Id="rId4" Type="http://schemas.openxmlformats.org/officeDocument/2006/relationships/hyperlink" Target="https://github.com/HamSCI/MSQP/blob/main/MSK144_Protocol_QEX.pdf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Content Placeholder 5"/>
          <p:cNvPicPr/>
          <p:nvPr/>
        </p:nvPicPr>
        <p:blipFill>
          <a:blip r:embed="rId2"/>
          <a:stretch/>
        </p:blipFill>
        <p:spPr>
          <a:xfrm rot="10800000">
            <a:off x="0" y="0"/>
            <a:ext cx="12192000" cy="68900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525" y="268066"/>
            <a:ext cx="7338721" cy="1790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4000" b="1" spc="-1" dirty="0" err="1">
                <a:solidFill>
                  <a:srgbClr val="FFFFFF"/>
                </a:solidFill>
                <a:latin typeface="Calibri Light"/>
              </a:rPr>
              <a:t>HamSCI</a:t>
            </a:r>
            <a:br>
              <a:rPr lang="en-US" sz="40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4000" b="1" spc="-1" dirty="0">
                <a:solidFill>
                  <a:srgbClr val="FFFFFF"/>
                </a:solidFill>
                <a:latin typeface="Calibri Light"/>
              </a:rPr>
              <a:t>Meteor Scatter Working Group</a:t>
            </a:r>
            <a:br>
              <a:rPr lang="en-US" sz="32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br>
              <a:rPr lang="en-US" sz="2400" b="1" spc="-1" dirty="0">
                <a:solidFill>
                  <a:srgbClr val="FFFFFF"/>
                </a:solidFill>
                <a:latin typeface="Calibri Light"/>
              </a:rPr>
            </a:br>
            <a:r>
              <a:rPr lang="en-US" sz="2400" b="1" spc="-1" dirty="0">
                <a:solidFill>
                  <a:srgbClr val="FFFFFF"/>
                </a:solidFill>
                <a:latin typeface="Calibri Light"/>
              </a:rPr>
              <a:t>Nov 4, 2026</a:t>
            </a:r>
            <a:endParaRPr lang="en-US" sz="32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267462" y="3857193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Rob Suggs Ph.D. , NN4NT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NASA Marshall Space Flight Center Amateur Radio Club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nn4nt@outlook.com</a:t>
            </a:r>
            <a:endParaRPr lang="en-US" sz="2000" spc="-1">
              <a:solidFill>
                <a:srgbClr val="00B0F0"/>
              </a:solidFill>
              <a:latin typeface="Calibri"/>
            </a:endParaRP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robert.suggs@scranton.edu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7815C548-23BE-7EE3-5AA9-C49F42C7269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137444" y="3857192"/>
            <a:ext cx="3602520" cy="2540717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400" spc="-1">
                <a:solidFill>
                  <a:srgbClr val="FFFFFF"/>
                </a:solidFill>
                <a:latin typeface="Calibri"/>
              </a:rPr>
              <a:t>Jay Weitzen Ph.D. , AC1SN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University of Massachusetts - Lowell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and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FFFFFF"/>
                </a:solidFill>
                <a:latin typeface="Calibri"/>
              </a:rPr>
              <a:t>The HamSCI Community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jay_weitzen@uml.edu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</a:p>
          <a:p>
            <a:pPr>
              <a:spcBef>
                <a:spcPts val="751"/>
              </a:spcBef>
              <a:tabLst>
                <a:tab pos="0" algn="l"/>
              </a:tabLst>
            </a:pPr>
            <a:r>
              <a:rPr lang="en-US" sz="2000" spc="-1">
                <a:solidFill>
                  <a:srgbClr val="00B0F0"/>
                </a:solidFill>
                <a:latin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jay.weitzen@scranton.edu</a:t>
            </a:r>
            <a:r>
              <a:rPr lang="en-US" sz="2000" spc="-1">
                <a:solidFill>
                  <a:srgbClr val="00B0F0"/>
                </a:solidFill>
                <a:latin typeface="Calibri"/>
              </a:rPr>
              <a:t> </a:t>
            </a:r>
            <a:endParaRPr lang="en-US" sz="2000" spc="-1">
              <a:solidFill>
                <a:srgbClr val="00B0F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ftr"/>
          </p:nvPr>
        </p:nvSpPr>
        <p:spPr>
          <a:xfrm>
            <a:off x="4553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spc="-1">
                <a:solidFill>
                  <a:srgbClr val="FFFFFF"/>
                </a:solidFill>
                <a:latin typeface="Times New Roman"/>
              </a:rPr>
              <a:t>Suggs NN4NT</a:t>
            </a:r>
            <a:endParaRPr lang="en-US" sz="900" spc="-1"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ldNum"/>
          </p:nvPr>
        </p:nvSpPr>
        <p:spPr>
          <a:xfrm>
            <a:off x="7982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3BDBA518-73BE-440E-BE33-7D2A34D84FD0}" type="slidenum">
              <a:rPr lang="en-US" sz="900" spc="-1">
                <a:solidFill>
                  <a:srgbClr val="FFFFFF"/>
                </a:solidFill>
                <a:latin typeface="Times New Roman"/>
              </a:rPr>
              <a:t>2</a:t>
            </a:fld>
            <a:endParaRPr lang="en-US" sz="900" spc="-1"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5D56E-E763-F6C2-B3F7-E6CCE890351E}"/>
              </a:ext>
            </a:extLst>
          </p:cNvPr>
          <p:cNvSpPr txBox="1">
            <a:spLocks/>
          </p:cNvSpPr>
          <p:nvPr/>
        </p:nvSpPr>
        <p:spPr>
          <a:xfrm>
            <a:off x="230862" y="136800"/>
            <a:ext cx="8229240" cy="1144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9EF85-77AB-1B4A-46CE-8F0C5CFA57E5}"/>
              </a:ext>
            </a:extLst>
          </p:cNvPr>
          <p:cNvSpPr txBox="1">
            <a:spLocks/>
          </p:cNvSpPr>
          <p:nvPr/>
        </p:nvSpPr>
        <p:spPr>
          <a:xfrm>
            <a:off x="454083" y="785657"/>
            <a:ext cx="9584997" cy="3977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Announcements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Action Item Review</a:t>
            </a:r>
          </a:p>
          <a:p>
            <a:pPr marL="0" indent="0">
              <a:buNone/>
            </a:pP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HamSCI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Workshop planning – Nathaniel Frissell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Scattering geometry visualization – Tom McMahan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Haystack Digital RF data format – Ryan Volz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Status of CW beacon testing – Jay Wilson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RF Sources for meteor detection – Rob Suggs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Possible tutorials on: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Shower modeling – Cooke/MEO – Nov 18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CMOR radar – Brown/UWO – Dec 2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Sporadic modeling/Meteoroid Engineering Model – Cooke/MEO – Jan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PHARLAP/</a:t>
            </a:r>
            <a:r>
              <a:rPr lang="en-US" sz="1800" dirty="0" err="1">
                <a:solidFill>
                  <a:schemeClr val="bg1"/>
                </a:solidFill>
              </a:rPr>
              <a:t>PyLAP</a:t>
            </a:r>
            <a:r>
              <a:rPr lang="en-US" sz="1800" dirty="0">
                <a:solidFill>
                  <a:schemeClr val="bg1"/>
                </a:solidFill>
              </a:rPr>
              <a:t> capabilities – Hozumi – Jan 6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Suggestions for future topics 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2C51-AFDB-B83A-57B7-0192A436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251017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3211-B5CD-9B73-EB05-B5ABD658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5" y="-154426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Action Item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589728-40EA-90A9-C96B-56B0FDB03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504335"/>
              </p:ext>
            </p:extLst>
          </p:nvPr>
        </p:nvGraphicFramePr>
        <p:xfrm>
          <a:off x="752761" y="744728"/>
          <a:ext cx="9873488" cy="6566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15">
                  <a:extLst>
                    <a:ext uri="{9D8B030D-6E8A-4147-A177-3AD203B41FA5}">
                      <a16:colId xmlns:a16="http://schemas.microsoft.com/office/drawing/2014/main" val="2513610190"/>
                    </a:ext>
                  </a:extLst>
                </a:gridCol>
                <a:gridCol w="1665155">
                  <a:extLst>
                    <a:ext uri="{9D8B030D-6E8A-4147-A177-3AD203B41FA5}">
                      <a16:colId xmlns:a16="http://schemas.microsoft.com/office/drawing/2014/main" val="2071354018"/>
                    </a:ext>
                  </a:extLst>
                </a:gridCol>
                <a:gridCol w="913996">
                  <a:extLst>
                    <a:ext uri="{9D8B030D-6E8A-4147-A177-3AD203B41FA5}">
                      <a16:colId xmlns:a16="http://schemas.microsoft.com/office/drawing/2014/main" val="3911528017"/>
                    </a:ext>
                  </a:extLst>
                </a:gridCol>
                <a:gridCol w="4823330">
                  <a:extLst>
                    <a:ext uri="{9D8B030D-6E8A-4147-A177-3AD203B41FA5}">
                      <a16:colId xmlns:a16="http://schemas.microsoft.com/office/drawing/2014/main" val="2413937744"/>
                    </a:ext>
                  </a:extLst>
                </a:gridCol>
                <a:gridCol w="1586992">
                  <a:extLst>
                    <a:ext uri="{9D8B030D-6E8A-4147-A177-3AD203B41FA5}">
                      <a16:colId xmlns:a16="http://schemas.microsoft.com/office/drawing/2014/main" val="1205989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err="1"/>
                        <a:t>Actionee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43123"/>
                  </a:ext>
                </a:extLst>
              </a:tr>
              <a:tr h="42523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Jay Weitzen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9/23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Investigate 1 sec Kostas coding (talk to David)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6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Make GitHub doc repository private – remove copyrighted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McKinley removed – migrate all to </a:t>
                      </a:r>
                      <a:r>
                        <a:rPr lang="en-US" sz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Sharepoint</a:t>
                      </a:r>
                      <a:r>
                        <a:rPr lang="en-US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? Moved to action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492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10/14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Report on testing of SIGMOND Meteor Scatter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Closed 10/14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1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Rob Suggs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Contact Scranton Tech Support regarding </a:t>
                      </a:r>
                      <a:r>
                        <a:rPr lang="en-US" sz="1200" dirty="0" err="1"/>
                        <a:t>Sharepoint</a:t>
                      </a:r>
                      <a:r>
                        <a:rPr lang="en-US" sz="1200" dirty="0"/>
                        <a:t>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Emailed 10/25, waiting to hear. #1160387. Iterating with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54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 through the upload process for SIGMOND MSK144 WAV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Robert Hipple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Consider a dashboard to explore SIGMOND meteor scatter output. Include Tom’s ellipsoid visualization software and raytracing capability.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88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06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635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731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176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5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724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22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D134-4BCC-7DD9-6117-FAE0E85B8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F371-BBDF-75A5-926F-2FB9AE47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HamSCI</a:t>
            </a:r>
            <a:r>
              <a:rPr lang="en-US" dirty="0">
                <a:solidFill>
                  <a:schemeClr val="bg1"/>
                </a:solidFill>
              </a:rPr>
              <a:t> Workshop Planning - Frissell</a:t>
            </a:r>
          </a:p>
        </p:txBody>
      </p:sp>
    </p:spTree>
    <p:extLst>
      <p:ext uri="{BB962C8B-B14F-4D97-AF65-F5344CB8AC3E}">
        <p14:creationId xmlns:p14="http://schemas.microsoft.com/office/powerpoint/2010/main" val="4277454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B5C7-8C70-996D-832F-CEB3BD74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C0F3-DE5B-98FD-F9EC-C2B97F1F7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Scattering Geometry Visualization - McMahan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091C5-DE98-D943-E6AA-8342F68AA00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600" y="1490472"/>
            <a:ext cx="10972320" cy="4754880"/>
          </a:xfrm>
        </p:spPr>
        <p:txBody>
          <a:bodyPr/>
          <a:lstStyle/>
          <a:p>
            <a:pPr marL="108000" indent="0">
              <a:buNone/>
            </a:pP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41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2924-8A21-7406-2775-A7EFC820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Haystack Digital RF - Volz</a:t>
            </a:r>
          </a:p>
        </p:txBody>
      </p:sp>
    </p:spTree>
    <p:extLst>
      <p:ext uri="{BB962C8B-B14F-4D97-AF65-F5344CB8AC3E}">
        <p14:creationId xmlns:p14="http://schemas.microsoft.com/office/powerpoint/2010/main" val="198691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43B6-7972-ACA5-CCA0-EACD581B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CW Beacon Testing - Wilson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1A03B-93D8-FF35-DC32-AB1EC806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748" y="411307"/>
            <a:ext cx="4578969" cy="32862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7B92B-DF3A-3CF4-4AC8-518EDBED20F4}"/>
              </a:ext>
            </a:extLst>
          </p:cNvPr>
          <p:cNvSpPr txBox="1"/>
          <p:nvPr/>
        </p:nvSpPr>
        <p:spPr>
          <a:xfrm>
            <a:off x="717563" y="1486652"/>
            <a:ext cx="66682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I will miss tomorrow's meeting as I will be without cell service driving from Los Alamos to Socorro.</a:t>
            </a:r>
          </a:p>
          <a:p>
            <a:pPr marL="0" marR="0" indent="0" algn="l" fontAlgn="base">
              <a:buNone/>
            </a:pPr>
            <a:b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</a:b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If Ted Cline checks in, he can probably share updates on our new beacon location. We have very encouraging initial reports on solid .meteor reflections.</a:t>
            </a:r>
            <a:endParaRPr lang="en-US" sz="11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0CFD9-ECB2-B169-F196-75A818A9622D}"/>
              </a:ext>
            </a:extLst>
          </p:cNvPr>
          <p:cNvSpPr txBox="1"/>
          <p:nvPr/>
        </p:nvSpPr>
        <p:spPr>
          <a:xfrm>
            <a:off x="720130" y="3697544"/>
            <a:ext cx="103601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Also, we now have nine kilowatt amplifiers for 6 meters available. 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We can use input and suggestions from the group on what transmitters to use as drivers. We have three Kenwood TS-511 but frequency stability is not ideal. Chip Sufitchi can speak to that.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Affordability is a concern unless we can find an additional source of funds.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Next, we need partners willing to host a beacon.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I should make next week's meeting.</a:t>
            </a:r>
          </a:p>
          <a:p>
            <a:pPr marL="0" marR="0" indent="0" algn="l" fontAlgn="base">
              <a:buNone/>
            </a:pPr>
            <a:endParaRPr lang="en-US" sz="1600" b="0" i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sz="1600" b="0" i="0" dirty="0">
                <a:solidFill>
                  <a:schemeClr val="bg1"/>
                </a:solidFill>
                <a:effectLst/>
                <a:latin typeface="+mn-lt"/>
              </a:rPr>
              <a:t>- Jay. Wilson  W0AIR      </a:t>
            </a:r>
          </a:p>
          <a:p>
            <a:pPr marL="0" marR="0" indent="0" algn="l" fontAlgn="base">
              <a:buNone/>
            </a:pP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b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52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DE4F-D156-1CB9-DA32-AB0E8EF8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B558-5187-5EA0-96BF-61DA2D197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RF Sources for </a:t>
            </a:r>
            <a:r>
              <a:rPr lang="en-US">
                <a:solidFill>
                  <a:schemeClr val="bg1"/>
                </a:solidFill>
              </a:rPr>
              <a:t>Meteor Scatter - Suggs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511D75-6A24-4C4D-82B8-779FD6FD7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873921"/>
              </p:ext>
            </p:extLst>
          </p:nvPr>
        </p:nvGraphicFramePr>
        <p:xfrm>
          <a:off x="710185" y="1634744"/>
          <a:ext cx="10972321" cy="41035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2676">
                  <a:extLst>
                    <a:ext uri="{9D8B030D-6E8A-4147-A177-3AD203B41FA5}">
                      <a16:colId xmlns:a16="http://schemas.microsoft.com/office/drawing/2014/main" val="84003628"/>
                    </a:ext>
                  </a:extLst>
                </a:gridCol>
                <a:gridCol w="1150889">
                  <a:extLst>
                    <a:ext uri="{9D8B030D-6E8A-4147-A177-3AD203B41FA5}">
                      <a16:colId xmlns:a16="http://schemas.microsoft.com/office/drawing/2014/main" val="3828377178"/>
                    </a:ext>
                  </a:extLst>
                </a:gridCol>
                <a:gridCol w="694681">
                  <a:extLst>
                    <a:ext uri="{9D8B030D-6E8A-4147-A177-3AD203B41FA5}">
                      <a16:colId xmlns:a16="http://schemas.microsoft.com/office/drawing/2014/main" val="4055638209"/>
                    </a:ext>
                  </a:extLst>
                </a:gridCol>
                <a:gridCol w="497681">
                  <a:extLst>
                    <a:ext uri="{9D8B030D-6E8A-4147-A177-3AD203B41FA5}">
                      <a16:colId xmlns:a16="http://schemas.microsoft.com/office/drawing/2014/main" val="1663874003"/>
                    </a:ext>
                  </a:extLst>
                </a:gridCol>
                <a:gridCol w="705049">
                  <a:extLst>
                    <a:ext uri="{9D8B030D-6E8A-4147-A177-3AD203B41FA5}">
                      <a16:colId xmlns:a16="http://schemas.microsoft.com/office/drawing/2014/main" val="1314440476"/>
                    </a:ext>
                  </a:extLst>
                </a:gridCol>
                <a:gridCol w="2446933">
                  <a:extLst>
                    <a:ext uri="{9D8B030D-6E8A-4147-A177-3AD203B41FA5}">
                      <a16:colId xmlns:a16="http://schemas.microsoft.com/office/drawing/2014/main" val="1869385557"/>
                    </a:ext>
                  </a:extLst>
                </a:gridCol>
                <a:gridCol w="2325106">
                  <a:extLst>
                    <a:ext uri="{9D8B030D-6E8A-4147-A177-3AD203B41FA5}">
                      <a16:colId xmlns:a16="http://schemas.microsoft.com/office/drawing/2014/main" val="1674245985"/>
                    </a:ext>
                  </a:extLst>
                </a:gridCol>
                <a:gridCol w="1669306">
                  <a:extLst>
                    <a:ext uri="{9D8B030D-6E8A-4147-A177-3AD203B41FA5}">
                      <a16:colId xmlns:a16="http://schemas.microsoft.com/office/drawing/2014/main" val="1779527000"/>
                    </a:ext>
                  </a:extLst>
                </a:gridCol>
              </a:tblGrid>
              <a:tr h="21779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RF Sources for Meteor Radar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627307713"/>
                  </a:ext>
                </a:extLst>
              </a:tr>
              <a:tr h="1633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Suggs 10/23/26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Utility for Meteor Science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731633367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3965664648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Source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Freq Range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Power level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Notes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Modulation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Pros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Cons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Compatible Software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6060964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387932799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Amateur MSK144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28, 50, 144 MHz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&lt;1500 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Most are 100 W and small antennas</a:t>
                      </a: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MSK144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Messages contain source callsign and location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Only available when someone is transmitting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WSJT-X, Sigmond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268819053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MSK (a form of OQPSK)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No way to measure doppler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3197363539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644503264"/>
                  </a:ext>
                </a:extLst>
              </a:tr>
              <a:tr h="3111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Digital Television Pilot Tone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54 - 88 MHz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?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Available 24/7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Determining TX location for each audio freq can be difficult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NASA Counting Software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295597622"/>
                  </a:ext>
                </a:extLst>
              </a:tr>
              <a:tr h="3111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Different TX are slightly separated in RX audio passband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Fairly weak, tone is tiny fraction of transmitter power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136189186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3301701064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371024934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Amateur CW beacons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TBD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30 - 1500 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Available 24/7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To be developed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086159379"/>
                  </a:ext>
                </a:extLst>
              </a:tr>
              <a:tr h="2878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May be licensed for other frequencies and higher power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See Balis+ 2025</a:t>
                      </a:r>
                    </a:p>
                  </a:txBody>
                  <a:tcPr marL="7778" marR="7778" marT="7778" marB="0"/>
                </a:tc>
                <a:extLst>
                  <a:ext uri="{0D108BD9-81ED-4DB2-BD59-A6C34878D82A}">
                    <a16:rowId xmlns:a16="http://schemas.microsoft.com/office/drawing/2014/main" val="4120410981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147517907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Professional meteor radars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17.45, 29.85, 38.15 MHz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15 - 130 kW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CMOR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Pulsed 532 Hz, 70 </a:t>
                      </a:r>
                      <a:r>
                        <a:rPr lang="en-US" sz="900" u="none" strike="noStrike" dirty="0">
                          <a:effectLst/>
                          <a:latin typeface="Symbol" panose="05050102010706020507" pitchFamily="18" charset="2"/>
                        </a:rPr>
                        <a:t>m</a:t>
                      </a:r>
                      <a:r>
                        <a:rPr lang="en-US" sz="900" u="none" strike="noStrike" dirty="0">
                          <a:effectLst/>
                        </a:rPr>
                        <a:t>sec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Available 24/7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Processing complexity</a:t>
                      </a: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To be developed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1259402959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 know their locations</a:t>
                      </a: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2006334015"/>
                  </a:ext>
                </a:extLst>
              </a:tr>
              <a:tr h="1555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31.65 MHz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500 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SIMONe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coded CW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778" marR="7778" marT="7778" marB="0" anchor="b"/>
                </a:tc>
                <a:extLst>
                  <a:ext uri="{0D108BD9-81ED-4DB2-BD59-A6C34878D82A}">
                    <a16:rowId xmlns:a16="http://schemas.microsoft.com/office/drawing/2014/main" val="647169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920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993DB-51E8-99B5-7D9D-91A537C3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605982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5BB1B1-43BF-40F9-455F-27C90E82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3DD1-C7CB-1B7D-3CD5-BD2B4415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N4WLO </a:t>
            </a:r>
            <a:r>
              <a:rPr lang="en-US">
                <a:solidFill>
                  <a:schemeClr val="bg1"/>
                </a:solidFill>
              </a:rPr>
              <a:t>Beacons EM50uo – Tim Urban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BB1DC-7439-028E-2A1A-DC9A3866E42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599" y="1604520"/>
            <a:ext cx="11136923" cy="5101080"/>
          </a:xfrm>
        </p:spPr>
        <p:txBody>
          <a:bodyPr>
            <a:normAutofit/>
          </a:bodyPr>
          <a:lstStyle/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50.218600  MHz USB audio 1500 Hz Carrier  2 element Yagi at 11 ft  pointed at 20 </a:t>
            </a:r>
            <a:r>
              <a:rPr lang="en-US" sz="2000" dirty="0" err="1">
                <a:solidFill>
                  <a:schemeClr val="bg1"/>
                </a:solidFill>
              </a:rPr>
              <a:t>degs</a:t>
            </a:r>
            <a:r>
              <a:rPr lang="en-US" sz="2000" dirty="0">
                <a:solidFill>
                  <a:schemeClr val="bg1"/>
                </a:solidFill>
              </a:rPr>
              <a:t>. GPSDO</a:t>
            </a:r>
          </a:p>
          <a:p>
            <a:pPr marL="1080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50.230000  MHz USB MSK144  3 element Yagi at 11 ft pointed at 20 </a:t>
            </a:r>
            <a:r>
              <a:rPr lang="en-US" sz="2000" dirty="0" err="1">
                <a:solidFill>
                  <a:schemeClr val="bg1"/>
                </a:solidFill>
              </a:rPr>
              <a:t>degs</a:t>
            </a:r>
            <a:r>
              <a:rPr lang="en-US" sz="2000" dirty="0">
                <a:solidFill>
                  <a:schemeClr val="bg1"/>
                </a:solidFill>
              </a:rPr>
              <a:t>. Not GPSDO</a:t>
            </a:r>
          </a:p>
          <a:p>
            <a:pPr marL="10800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28.19900  MHz USB  audio 1500 Hz  FT8 and CW Moxon 70 ft pointed at 200 </a:t>
            </a:r>
            <a:r>
              <a:rPr lang="en-US" sz="2000" dirty="0" err="1">
                <a:solidFill>
                  <a:schemeClr val="bg1"/>
                </a:solidFill>
              </a:rPr>
              <a:t>degs</a:t>
            </a:r>
            <a:r>
              <a:rPr lang="en-US" sz="2000" dirty="0">
                <a:solidFill>
                  <a:schemeClr val="bg1"/>
                </a:solidFill>
              </a:rPr>
              <a:t>. Not GPSDO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FT8 followed by CW (N4WLO) every 5 mins (0,5,10,15,20,25,30,35,40,45,50 and 55)</a:t>
            </a: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     Seconds 00 to 15  FT8</a:t>
            </a: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     Plan to return to transmitting GPS PPS also</a:t>
            </a: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    </a:t>
            </a:r>
            <a:endParaRPr lang="en-US" dirty="0">
              <a:solidFill>
                <a:schemeClr val="bg1"/>
              </a:solidFill>
            </a:endParaRPr>
          </a:p>
          <a:p>
            <a:pPr marL="10800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Info from email from Tim Urban 12 Oct 2026.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76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50A7-4438-1FC8-5237-81D4BD58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144" y="0"/>
            <a:ext cx="10972320" cy="114480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Homework – Read/view the following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17C9D-EE02-24A0-0F4C-9505E0BE43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840" y="2061720"/>
            <a:ext cx="10972320" cy="3977280"/>
          </a:xfrm>
        </p:spPr>
        <p:txBody>
          <a:bodyPr/>
          <a:lstStyle/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Weitzen and Ralston MS review paper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https://github.com/HamSCI/MSQP/blob/main/Weitzen_and_Ralston_Meteor_scatter_an_overview.pdf</a:t>
            </a:r>
            <a:r>
              <a:rPr lang="en-US" sz="1800" dirty="0">
                <a:solidFill>
                  <a:srgbClr val="00B0F0"/>
                </a:solidFill>
              </a:rPr>
              <a:t> </a:t>
            </a:r>
            <a:endParaRPr lang="en-US" sz="20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Suggs’ </a:t>
            </a:r>
            <a:r>
              <a:rPr lang="en-US" sz="2800" dirty="0" err="1">
                <a:solidFill>
                  <a:schemeClr val="bg1"/>
                </a:solidFill>
              </a:rPr>
              <a:t>HamSCI</a:t>
            </a:r>
            <a:r>
              <a:rPr lang="en-US" sz="2800" dirty="0">
                <a:solidFill>
                  <a:schemeClr val="bg1"/>
                </a:solidFill>
              </a:rPr>
              <a:t> talk/slides </a:t>
            </a:r>
            <a:r>
              <a:rPr lang="en-US" sz="16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https://www.hamsci.org/sites/default/files/article/Workshop_2026/Meteor_Scatter_Science_Behind_the_Pings_HamSCI_conference_RevB.pdf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pPr marL="108000" indent="0">
              <a:buNone/>
            </a:pPr>
            <a:r>
              <a:rPr lang="en-US" sz="1600" dirty="0">
                <a:solidFill>
                  <a:srgbClr val="00B0F0"/>
                </a:solidFill>
              </a:rPr>
              <a:t>https://www.youtube.com/watch?v=1pgrXqg435g&amp;t=3s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Balis+ – example of what can be done with CW forward scatter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McKinley chapters - contact Rob Suggs for copies</a:t>
            </a: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MSK144 Protocol </a:t>
            </a:r>
            <a:r>
              <a:rPr lang="en-US" sz="16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https://github.com/HamSCI/MSQP/blob/main/MSK144_Protocol_QEX.pdf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  <a:endParaRPr lang="en-US" sz="2800" dirty="0">
              <a:solidFill>
                <a:srgbClr val="00B0F0"/>
              </a:solidFill>
            </a:endParaRPr>
          </a:p>
          <a:p>
            <a:pPr marL="10800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CMOR radar info </a:t>
            </a:r>
            <a:r>
              <a:rPr lang="en-US" sz="1600" dirty="0">
                <a:solidFill>
                  <a:srgbClr val="00B0F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https://aquarid.physics.uwo.ca/research/radar/cmor_intro.html</a:t>
            </a:r>
            <a:r>
              <a:rPr lang="en-US" sz="1600" dirty="0">
                <a:solidFill>
                  <a:srgbClr val="00B0F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66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23B8-27F5-EAA8-7BDD-7B3A79405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40" y="862056"/>
            <a:ext cx="10972320" cy="11448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Strategy for MSQP data analysis – West and Suggs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81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71909-3E25-0D4E-0E22-D060B008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-280080"/>
            <a:ext cx="10972320" cy="1144800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Topics discussed with Peter Brown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EB67C-93CD-8FC7-1F7D-9276AB86BA3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82752" y="1399032"/>
            <a:ext cx="10972320" cy="4517136"/>
          </a:xfrm>
        </p:spPr>
        <p:txBody>
          <a:bodyPr/>
          <a:lstStyle/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Nathaniel – </a:t>
            </a:r>
            <a:r>
              <a:rPr lang="en-US" sz="2400" dirty="0" err="1">
                <a:solidFill>
                  <a:schemeClr val="bg1"/>
                </a:solidFill>
              </a:rPr>
              <a:t>HamSCI</a:t>
            </a:r>
            <a:r>
              <a:rPr lang="en-US" sz="2400" dirty="0">
                <a:solidFill>
                  <a:schemeClr val="bg1"/>
                </a:solidFill>
              </a:rPr>
              <a:t> introduction including PSWS</a:t>
            </a: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Peter – Problems in meteor science which forward scatter might address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Balis+ 2025 CW beacon thoughts – need dense network, at least 6 receivers per meteor 	to measure speed and trajectory. US beacons plus PSWS network?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GMN data fusion – could be useful, gives trajectory (range especially needed), larger 	meteors (we might hear head echoes)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CMOR characteristics 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29.850 MHz going from 15 kW peak to 130 kW peak (end of Oct)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5% duty cycle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532 Hz PRF, 70 microsec Gaussian pulses, non-coded, 25 kHz BW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		Product would be radiant tomography (Fresnel Transform Tomography from IQ, 		but need range)</a:t>
            </a: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Jay – Problems in meteor scatter communications and waveform requirements - ground footprint for communications, multipath limits data rate</a:t>
            </a:r>
          </a:p>
          <a:p>
            <a:pPr marL="10800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</a:rPr>
              <a:t>Measuring CMOR radar signals could be useful. Start listening.</a:t>
            </a:r>
          </a:p>
          <a:p>
            <a:pPr marL="108000"/>
            <a:r>
              <a:rPr lang="en-US" sz="2400" dirty="0">
                <a:solidFill>
                  <a:schemeClr val="bg1"/>
                </a:solidFill>
              </a:rPr>
              <a:t>Rob – Forward scatter modeling with PHARLAP/</a:t>
            </a:r>
            <a:r>
              <a:rPr lang="en-US" sz="2400" dirty="0" err="1">
                <a:solidFill>
                  <a:schemeClr val="bg1"/>
                </a:solidFill>
              </a:rPr>
              <a:t>PyLAP</a:t>
            </a:r>
            <a:endParaRPr lang="en-US" sz="2400" dirty="0">
              <a:solidFill>
                <a:schemeClr val="bg1"/>
              </a:solidFill>
            </a:endParaRPr>
          </a:p>
          <a:p>
            <a:pPr marL="108000" lvl="5"/>
            <a:r>
              <a:rPr lang="en-US" sz="2000" dirty="0">
                <a:solidFill>
                  <a:schemeClr val="bg1"/>
                </a:solidFill>
              </a:rPr>
              <a:t>	Interest in scattering resonance near the specular point – physical properties of ionization 	trail</a:t>
            </a:r>
          </a:p>
          <a:p>
            <a:pPr marL="108000" lvl="5"/>
            <a:r>
              <a:rPr lang="en-US" sz="2000" dirty="0">
                <a:solidFill>
                  <a:schemeClr val="bg1"/>
                </a:solidFill>
              </a:rPr>
              <a:t>	Polarization (Faraday rotation) hasn’t been dealt with except as error in amplitude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44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C:\JIM'S\SSSAAS.FLD\SSUAS696.ppt</Template>
  <TotalTime>8139</TotalTime>
  <Words>1145</Words>
  <Application>Microsoft Office PowerPoint</Application>
  <PresentationFormat>Widescreen</PresentationFormat>
  <Paragraphs>178</Paragraphs>
  <Slides>14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 Narrow</vt:lpstr>
      <vt:lpstr>Arial</vt:lpstr>
      <vt:lpstr>Calibri</vt:lpstr>
      <vt:lpstr>Calibri Light</vt:lpstr>
      <vt:lpstr>Segoe UI</vt:lpstr>
      <vt:lpstr>Symbol</vt:lpstr>
      <vt:lpstr>Times New Roman</vt:lpstr>
      <vt:lpstr>Wingdings</vt:lpstr>
      <vt:lpstr>Office Theme</vt:lpstr>
      <vt:lpstr>Office Theme</vt:lpstr>
      <vt:lpstr>HamSCI Meteor Scatter Working Group   Nov 4, 2026</vt:lpstr>
      <vt:lpstr>PowerPoint Presentation</vt:lpstr>
      <vt:lpstr>Announcements</vt:lpstr>
      <vt:lpstr>Action Item Review</vt:lpstr>
      <vt:lpstr>HamSCI Workshop Planning - Frissell</vt:lpstr>
      <vt:lpstr>Scattering Geometry Visualization - McMahan</vt:lpstr>
      <vt:lpstr>Haystack Digital RF - Volz</vt:lpstr>
      <vt:lpstr>CW Beacon Testing - Wilson</vt:lpstr>
      <vt:lpstr>RF Sources for Meteor Scatter - Suggs</vt:lpstr>
      <vt:lpstr>Backup</vt:lpstr>
      <vt:lpstr>N4WLO Beacons EM50uo – Tim Urban</vt:lpstr>
      <vt:lpstr>Homework – Read/view the following</vt:lpstr>
      <vt:lpstr>Strategy for MSQP data analysis – West and Suggs </vt:lpstr>
      <vt:lpstr>Topics discussed with Peter Brown</vt:lpstr>
    </vt:vector>
  </TitlesOfParts>
  <Company>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 Space Environments</dc:title>
  <dc:subject/>
  <dc:creator>Rob Suggs</dc:creator>
  <dc:description/>
  <cp:lastModifiedBy>Rob Suggs</cp:lastModifiedBy>
  <cp:revision>7</cp:revision>
  <cp:lastPrinted>2000-08-10T15:04:34Z</cp:lastPrinted>
  <dcterms:created xsi:type="dcterms:W3CDTF">1997-05-08T12:17:31Z</dcterms:created>
  <dcterms:modified xsi:type="dcterms:W3CDTF">2026-10-28T16:19:32Z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8</vt:r8>
  </property>
  <property fmtid="{D5CDD505-2E9C-101B-9397-08002B2CF9AE}" pid="6" name="Notes">
    <vt:r8>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37</vt:r8>
  </property>
</Properties>
</file>